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7" r:id="rId2"/>
    <p:sldId id="258" r:id="rId3"/>
    <p:sldId id="259" r:id="rId4"/>
    <p:sldId id="260" r:id="rId5"/>
    <p:sldId id="261" r:id="rId6"/>
    <p:sldId id="263" r:id="rId7"/>
    <p:sldId id="262" r:id="rId8"/>
    <p:sldId id="264" r:id="rId9"/>
    <p:sldId id="265" r:id="rId10"/>
    <p:sldId id="266" r:id="rId11"/>
    <p:sldId id="267" r:id="rId12"/>
    <p:sldId id="268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69" r:id="rId24"/>
    <p:sldId id="281" r:id="rId25"/>
    <p:sldId id="280" r:id="rId26"/>
    <p:sldId id="282" r:id="rId27"/>
    <p:sldId id="283" r:id="rId2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165EDD-9D9E-4973-9946-2D22FBFF980E}" v="185" dt="2025-08-27T18:45:17.4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Estilo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EC20E35-A176-4012-BC5E-935CFFF8708E}" styleName="Estilo me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Estilo claro 2 - Acento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735" autoAdjust="0"/>
  </p:normalViewPr>
  <p:slideViewPr>
    <p:cSldViewPr snapToGrid="0" showGuides="1">
      <p:cViewPr varScale="1">
        <p:scale>
          <a:sx n="55" d="100"/>
          <a:sy n="55" d="100"/>
        </p:scale>
        <p:origin x="155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cilia Ferrero" userId="4766952a0d3f2bf5" providerId="LiveId" clId="{5D165EDD-9D9E-4973-9946-2D22FBFF980E}"/>
    <pc:docChg chg="custSel addSld modSld">
      <pc:chgData name="Cecilia Ferrero" userId="4766952a0d3f2bf5" providerId="LiveId" clId="{5D165EDD-9D9E-4973-9946-2D22FBFF980E}" dt="2025-09-01T19:41:14.496" v="384" actId="20577"/>
      <pc:docMkLst>
        <pc:docMk/>
      </pc:docMkLst>
      <pc:sldChg chg="modSp mod">
        <pc:chgData name="Cecilia Ferrero" userId="4766952a0d3f2bf5" providerId="LiveId" clId="{5D165EDD-9D9E-4973-9946-2D22FBFF980E}" dt="2025-08-27T18:13:12.642" v="180" actId="1037"/>
        <pc:sldMkLst>
          <pc:docMk/>
          <pc:sldMk cId="4219616216" sldId="260"/>
        </pc:sldMkLst>
        <pc:spChg chg="mod">
          <ac:chgData name="Cecilia Ferrero" userId="4766952a0d3f2bf5" providerId="LiveId" clId="{5D165EDD-9D9E-4973-9946-2D22FBFF980E}" dt="2025-08-27T18:13:12.642" v="180" actId="1037"/>
          <ac:spMkLst>
            <pc:docMk/>
            <pc:sldMk cId="4219616216" sldId="260"/>
            <ac:spMk id="3" creationId="{A5AC24D5-39CD-C400-3461-558F0B14C9A5}"/>
          </ac:spMkLst>
        </pc:spChg>
        <pc:picChg chg="mod">
          <ac:chgData name="Cecilia Ferrero" userId="4766952a0d3f2bf5" providerId="LiveId" clId="{5D165EDD-9D9E-4973-9946-2D22FBFF980E}" dt="2025-08-27T18:12:55.311" v="174" actId="1076"/>
          <ac:picMkLst>
            <pc:docMk/>
            <pc:sldMk cId="4219616216" sldId="260"/>
            <ac:picMk id="6" creationId="{6B6A45E7-4B48-F994-6955-AE533C0BE2BF}"/>
          </ac:picMkLst>
        </pc:picChg>
      </pc:sldChg>
      <pc:sldChg chg="delSp mod">
        <pc:chgData name="Cecilia Ferrero" userId="4766952a0d3f2bf5" providerId="LiveId" clId="{5D165EDD-9D9E-4973-9946-2D22FBFF980E}" dt="2025-08-27T18:26:28.882" v="181" actId="478"/>
        <pc:sldMkLst>
          <pc:docMk/>
          <pc:sldMk cId="3212789350" sldId="264"/>
        </pc:sldMkLst>
      </pc:sldChg>
      <pc:sldChg chg="modSp mod">
        <pc:chgData name="Cecilia Ferrero" userId="4766952a0d3f2bf5" providerId="LiveId" clId="{5D165EDD-9D9E-4973-9946-2D22FBFF980E}" dt="2025-09-01T19:41:14.496" v="384" actId="20577"/>
        <pc:sldMkLst>
          <pc:docMk/>
          <pc:sldMk cId="3648195619" sldId="266"/>
        </pc:sldMkLst>
        <pc:graphicFrameChg chg="modGraphic">
          <ac:chgData name="Cecilia Ferrero" userId="4766952a0d3f2bf5" providerId="LiveId" clId="{5D165EDD-9D9E-4973-9946-2D22FBFF980E}" dt="2025-09-01T19:41:14.496" v="384" actId="20577"/>
          <ac:graphicFrameMkLst>
            <pc:docMk/>
            <pc:sldMk cId="3648195619" sldId="266"/>
            <ac:graphicFrameMk id="2" creationId="{7A3D2A9C-9FB8-596E-2AA0-8928EB871864}"/>
          </ac:graphicFrameMkLst>
        </pc:graphicFrameChg>
      </pc:sldChg>
      <pc:sldChg chg="modSp mod">
        <pc:chgData name="Cecilia Ferrero" userId="4766952a0d3f2bf5" providerId="LiveId" clId="{5D165EDD-9D9E-4973-9946-2D22FBFF980E}" dt="2025-09-01T19:40:53.921" v="382" actId="20577"/>
        <pc:sldMkLst>
          <pc:docMk/>
          <pc:sldMk cId="1526279806" sldId="268"/>
        </pc:sldMkLst>
        <pc:graphicFrameChg chg="modGraphic">
          <ac:chgData name="Cecilia Ferrero" userId="4766952a0d3f2bf5" providerId="LiveId" clId="{5D165EDD-9D9E-4973-9946-2D22FBFF980E}" dt="2025-09-01T19:40:53.921" v="382" actId="20577"/>
          <ac:graphicFrameMkLst>
            <pc:docMk/>
            <pc:sldMk cId="1526279806" sldId="268"/>
            <ac:graphicFrameMk id="2" creationId="{0D87AE5F-A572-CB89-41D5-3DA71E3D2B44}"/>
          </ac:graphicFrameMkLst>
        </pc:graphicFrameChg>
      </pc:sldChg>
      <pc:sldChg chg="modSp mod">
        <pc:chgData name="Cecilia Ferrero" userId="4766952a0d3f2bf5" providerId="LiveId" clId="{5D165EDD-9D9E-4973-9946-2D22FBFF980E}" dt="2025-08-27T18:42:23.672" v="295" actId="5793"/>
        <pc:sldMkLst>
          <pc:docMk/>
          <pc:sldMk cId="1420060059" sldId="269"/>
        </pc:sldMkLst>
        <pc:spChg chg="mod">
          <ac:chgData name="Cecilia Ferrero" userId="4766952a0d3f2bf5" providerId="LiveId" clId="{5D165EDD-9D9E-4973-9946-2D22FBFF980E}" dt="2025-08-27T18:42:23.672" v="295" actId="5793"/>
          <ac:spMkLst>
            <pc:docMk/>
            <pc:sldMk cId="1420060059" sldId="269"/>
            <ac:spMk id="3" creationId="{AD5BBDF3-EA81-7942-A4E9-01E7E07CA8A4}"/>
          </ac:spMkLst>
        </pc:spChg>
      </pc:sldChg>
      <pc:sldChg chg="modSp mod">
        <pc:chgData name="Cecilia Ferrero" userId="4766952a0d3f2bf5" providerId="LiveId" clId="{5D165EDD-9D9E-4973-9946-2D22FBFF980E}" dt="2025-08-27T15:02:07.334" v="15" actId="20577"/>
        <pc:sldMkLst>
          <pc:docMk/>
          <pc:sldMk cId="1589023001" sldId="271"/>
        </pc:sldMkLst>
        <pc:spChg chg="mod">
          <ac:chgData name="Cecilia Ferrero" userId="4766952a0d3f2bf5" providerId="LiveId" clId="{5D165EDD-9D9E-4973-9946-2D22FBFF980E}" dt="2025-08-27T15:02:07.334" v="15" actId="20577"/>
          <ac:spMkLst>
            <pc:docMk/>
            <pc:sldMk cId="1589023001" sldId="271"/>
            <ac:spMk id="4" creationId="{DCE1B909-BFBD-AFC1-0008-FA16140F84E7}"/>
          </ac:spMkLst>
        </pc:spChg>
      </pc:sldChg>
      <pc:sldChg chg="modSp">
        <pc:chgData name="Cecilia Ferrero" userId="4766952a0d3f2bf5" providerId="LiveId" clId="{5D165EDD-9D9E-4973-9946-2D22FBFF980E}" dt="2025-08-27T18:27:34.825" v="184" actId="20577"/>
        <pc:sldMkLst>
          <pc:docMk/>
          <pc:sldMk cId="1316727482" sldId="272"/>
        </pc:sldMkLst>
        <pc:spChg chg="mod">
          <ac:chgData name="Cecilia Ferrero" userId="4766952a0d3f2bf5" providerId="LiveId" clId="{5D165EDD-9D9E-4973-9946-2D22FBFF980E}" dt="2025-08-27T18:27:34.825" v="184" actId="20577"/>
          <ac:spMkLst>
            <pc:docMk/>
            <pc:sldMk cId="1316727482" sldId="272"/>
            <ac:spMk id="4" creationId="{4A566DA6-197F-3532-6FE9-99ED6545E59F}"/>
          </ac:spMkLst>
        </pc:spChg>
      </pc:sldChg>
      <pc:sldChg chg="modSp">
        <pc:chgData name="Cecilia Ferrero" userId="4766952a0d3f2bf5" providerId="LiveId" clId="{5D165EDD-9D9E-4973-9946-2D22FBFF980E}" dt="2025-08-27T18:34:01.842" v="225" actId="20577"/>
        <pc:sldMkLst>
          <pc:docMk/>
          <pc:sldMk cId="3134055556" sldId="273"/>
        </pc:sldMkLst>
        <pc:spChg chg="mod">
          <ac:chgData name="Cecilia Ferrero" userId="4766952a0d3f2bf5" providerId="LiveId" clId="{5D165EDD-9D9E-4973-9946-2D22FBFF980E}" dt="2025-08-27T18:34:01.842" v="225" actId="20577"/>
          <ac:spMkLst>
            <pc:docMk/>
            <pc:sldMk cId="3134055556" sldId="273"/>
            <ac:spMk id="4" creationId="{F536911A-A7E0-132A-5CEE-FC62D9196E8B}"/>
          </ac:spMkLst>
        </pc:spChg>
        <pc:spChg chg="mod">
          <ac:chgData name="Cecilia Ferrero" userId="4766952a0d3f2bf5" providerId="LiveId" clId="{5D165EDD-9D9E-4973-9946-2D22FBFF980E}" dt="2025-08-27T18:29:26.173" v="212" actId="20577"/>
          <ac:spMkLst>
            <pc:docMk/>
            <pc:sldMk cId="3134055556" sldId="273"/>
            <ac:spMk id="6" creationId="{016E7A17-ACA5-911D-2A73-EC5D9E572788}"/>
          </ac:spMkLst>
        </pc:spChg>
      </pc:sldChg>
      <pc:sldChg chg="modSp mod">
        <pc:chgData name="Cecilia Ferrero" userId="4766952a0d3f2bf5" providerId="LiveId" clId="{5D165EDD-9D9E-4973-9946-2D22FBFF980E}" dt="2025-08-27T17:30:12.738" v="21" actId="1076"/>
        <pc:sldMkLst>
          <pc:docMk/>
          <pc:sldMk cId="1391968614" sldId="275"/>
        </pc:sldMkLst>
        <pc:spChg chg="mod">
          <ac:chgData name="Cecilia Ferrero" userId="4766952a0d3f2bf5" providerId="LiveId" clId="{5D165EDD-9D9E-4973-9946-2D22FBFF980E}" dt="2025-08-27T17:30:09.818" v="20" actId="1076"/>
          <ac:spMkLst>
            <pc:docMk/>
            <pc:sldMk cId="1391968614" sldId="275"/>
            <ac:spMk id="4" creationId="{F39D50CF-34CF-DFDD-E28B-E039A2F93023}"/>
          </ac:spMkLst>
        </pc:spChg>
        <pc:spChg chg="mod">
          <ac:chgData name="Cecilia Ferrero" userId="4766952a0d3f2bf5" providerId="LiveId" clId="{5D165EDD-9D9E-4973-9946-2D22FBFF980E}" dt="2025-08-27T17:30:12.738" v="21" actId="1076"/>
          <ac:spMkLst>
            <pc:docMk/>
            <pc:sldMk cId="1391968614" sldId="275"/>
            <ac:spMk id="6" creationId="{BDE789E5-9EDB-E1E6-1E99-957B60C59B65}"/>
          </ac:spMkLst>
        </pc:spChg>
      </pc:sldChg>
      <pc:sldChg chg="addSp modSp mod">
        <pc:chgData name="Cecilia Ferrero" userId="4766952a0d3f2bf5" providerId="LiveId" clId="{5D165EDD-9D9E-4973-9946-2D22FBFF980E}" dt="2025-08-27T18:40:14.336" v="272" actId="14100"/>
        <pc:sldMkLst>
          <pc:docMk/>
          <pc:sldMk cId="3515644351" sldId="278"/>
        </pc:sldMkLst>
        <pc:spChg chg="add mod">
          <ac:chgData name="Cecilia Ferrero" userId="4766952a0d3f2bf5" providerId="LiveId" clId="{5D165EDD-9D9E-4973-9946-2D22FBFF980E}" dt="2025-08-27T18:40:14.336" v="272" actId="14100"/>
          <ac:spMkLst>
            <pc:docMk/>
            <pc:sldMk cId="3515644351" sldId="278"/>
            <ac:spMk id="3" creationId="{A534D3EC-5F82-DBEB-BFC5-9AC115F1FCB9}"/>
          </ac:spMkLst>
        </pc:spChg>
      </pc:sldChg>
      <pc:sldChg chg="addSp modSp mod">
        <pc:chgData name="Cecilia Ferrero" userId="4766952a0d3f2bf5" providerId="LiveId" clId="{5D165EDD-9D9E-4973-9946-2D22FBFF980E}" dt="2025-08-27T18:45:25.453" v="376" actId="1076"/>
        <pc:sldMkLst>
          <pc:docMk/>
          <pc:sldMk cId="1147781972" sldId="282"/>
        </pc:sldMkLst>
        <pc:spChg chg="add mod">
          <ac:chgData name="Cecilia Ferrero" userId="4766952a0d3f2bf5" providerId="LiveId" clId="{5D165EDD-9D9E-4973-9946-2D22FBFF980E}" dt="2025-08-27T18:45:25.453" v="376" actId="1076"/>
          <ac:spMkLst>
            <pc:docMk/>
            <pc:sldMk cId="1147781972" sldId="282"/>
            <ac:spMk id="4" creationId="{A88F13F1-A54D-4C23-D8C3-4A15AE839940}"/>
          </ac:spMkLst>
        </pc:spChg>
        <pc:spChg chg="mod">
          <ac:chgData name="Cecilia Ferrero" userId="4766952a0d3f2bf5" providerId="LiveId" clId="{5D165EDD-9D9E-4973-9946-2D22FBFF980E}" dt="2025-08-27T18:43:23.266" v="301" actId="20577"/>
          <ac:spMkLst>
            <pc:docMk/>
            <pc:sldMk cId="1147781972" sldId="282"/>
            <ac:spMk id="5" creationId="{4BDE4833-A1ED-11CB-512B-E343F50CE28D}"/>
          </ac:spMkLst>
        </pc:spChg>
      </pc:sldChg>
      <pc:sldChg chg="addSp modSp new mod">
        <pc:chgData name="Cecilia Ferrero" userId="4766952a0d3f2bf5" providerId="LiveId" clId="{5D165EDD-9D9E-4973-9946-2D22FBFF980E}" dt="2025-08-27T17:37:50.321" v="173" actId="1076"/>
        <pc:sldMkLst>
          <pc:docMk/>
          <pc:sldMk cId="2230011329" sldId="283"/>
        </pc:sldMkLst>
        <pc:spChg chg="add mod">
          <ac:chgData name="Cecilia Ferrero" userId="4766952a0d3f2bf5" providerId="LiveId" clId="{5D165EDD-9D9E-4973-9946-2D22FBFF980E}" dt="2025-08-27T17:34:25.114" v="115" actId="20577"/>
          <ac:spMkLst>
            <pc:docMk/>
            <pc:sldMk cId="2230011329" sldId="283"/>
            <ac:spMk id="2" creationId="{93D6ADB9-63E4-7AF2-E57B-283ED5B05DCB}"/>
          </ac:spMkLst>
        </pc:spChg>
        <pc:spChg chg="add mod">
          <ac:chgData name="Cecilia Ferrero" userId="4766952a0d3f2bf5" providerId="LiveId" clId="{5D165EDD-9D9E-4973-9946-2D22FBFF980E}" dt="2025-08-27T17:37:50.321" v="173" actId="1076"/>
          <ac:spMkLst>
            <pc:docMk/>
            <pc:sldMk cId="2230011329" sldId="283"/>
            <ac:spMk id="5" creationId="{F2FD6F10-D4E9-A441-500B-845C1C00063E}"/>
          </ac:spMkLst>
        </pc:spChg>
      </pc:sldChg>
    </pc:docChg>
  </pc:docChgLst>
  <pc:docChgLst>
    <pc:chgData name="Cecilia Ferrero" userId="4766952a0d3f2bf5" providerId="LiveId" clId="{A988E22A-9B7D-4E7A-8D02-CE773FB24623}"/>
    <pc:docChg chg="undo redo custSel addSld delSld modSld sldOrd">
      <pc:chgData name="Cecilia Ferrero" userId="4766952a0d3f2bf5" providerId="LiveId" clId="{A988E22A-9B7D-4E7A-8D02-CE773FB24623}" dt="2025-04-03T14:25:08.977" v="4853" actId="1076"/>
      <pc:docMkLst>
        <pc:docMk/>
      </pc:docMkLst>
      <pc:sldChg chg="modSp mod modClrScheme chgLayout">
        <pc:chgData name="Cecilia Ferrero" userId="4766952a0d3f2bf5" providerId="LiveId" clId="{A988E22A-9B7D-4E7A-8D02-CE773FB24623}" dt="2025-03-26T22:08:12.931" v="4" actId="700"/>
        <pc:sldMkLst>
          <pc:docMk/>
          <pc:sldMk cId="3981727452" sldId="257"/>
        </pc:sldMkLst>
      </pc:sldChg>
      <pc:sldChg chg="addSp delSp modSp new mod modClrScheme chgLayout">
        <pc:chgData name="Cecilia Ferrero" userId="4766952a0d3f2bf5" providerId="LiveId" clId="{A988E22A-9B7D-4E7A-8D02-CE773FB24623}" dt="2025-03-26T22:12:11.344" v="97" actId="1076"/>
        <pc:sldMkLst>
          <pc:docMk/>
          <pc:sldMk cId="1158039919" sldId="258"/>
        </pc:sldMkLst>
      </pc:sldChg>
      <pc:sldChg chg="addSp modSp new mod">
        <pc:chgData name="Cecilia Ferrero" userId="4766952a0d3f2bf5" providerId="LiveId" clId="{A988E22A-9B7D-4E7A-8D02-CE773FB24623}" dt="2025-03-26T22:19:17.865" v="205" actId="113"/>
        <pc:sldMkLst>
          <pc:docMk/>
          <pc:sldMk cId="3670886982" sldId="259"/>
        </pc:sldMkLst>
      </pc:sldChg>
      <pc:sldChg chg="addSp modSp new mod">
        <pc:chgData name="Cecilia Ferrero" userId="4766952a0d3f2bf5" providerId="LiveId" clId="{A988E22A-9B7D-4E7A-8D02-CE773FB24623}" dt="2025-03-26T22:37:26.440" v="295" actId="1076"/>
        <pc:sldMkLst>
          <pc:docMk/>
          <pc:sldMk cId="4219616216" sldId="260"/>
        </pc:sldMkLst>
      </pc:sldChg>
      <pc:sldChg chg="addSp delSp modSp new mod ord">
        <pc:chgData name="Cecilia Ferrero" userId="4766952a0d3f2bf5" providerId="LiveId" clId="{A988E22A-9B7D-4E7A-8D02-CE773FB24623}" dt="2025-04-03T13:46:38.408" v="4508" actId="20577"/>
        <pc:sldMkLst>
          <pc:docMk/>
          <pc:sldMk cId="1557176203" sldId="261"/>
        </pc:sldMkLst>
      </pc:sldChg>
      <pc:sldChg chg="addSp modSp new mod">
        <pc:chgData name="Cecilia Ferrero" userId="4766952a0d3f2bf5" providerId="LiveId" clId="{A988E22A-9B7D-4E7A-8D02-CE773FB24623}" dt="2025-03-26T22:58:14.667" v="1273" actId="113"/>
        <pc:sldMkLst>
          <pc:docMk/>
          <pc:sldMk cId="170286151" sldId="262"/>
        </pc:sldMkLst>
      </pc:sldChg>
      <pc:sldChg chg="addSp delSp modSp new mod ord modAnim">
        <pc:chgData name="Cecilia Ferrero" userId="4766952a0d3f2bf5" providerId="LiveId" clId="{A988E22A-9B7D-4E7A-8D02-CE773FB24623}" dt="2025-04-03T13:37:19.024" v="4479"/>
        <pc:sldMkLst>
          <pc:docMk/>
          <pc:sldMk cId="2749195121" sldId="263"/>
        </pc:sldMkLst>
      </pc:sldChg>
      <pc:sldChg chg="addSp delSp modSp new mod">
        <pc:chgData name="Cecilia Ferrero" userId="4766952a0d3f2bf5" providerId="LiveId" clId="{A988E22A-9B7D-4E7A-8D02-CE773FB24623}" dt="2025-04-03T13:56:06.264" v="4643" actId="20577"/>
        <pc:sldMkLst>
          <pc:docMk/>
          <pc:sldMk cId="3212789350" sldId="264"/>
        </pc:sldMkLst>
      </pc:sldChg>
      <pc:sldChg chg="addSp modSp new mod modAnim">
        <pc:chgData name="Cecilia Ferrero" userId="4766952a0d3f2bf5" providerId="LiveId" clId="{A988E22A-9B7D-4E7A-8D02-CE773FB24623}" dt="2025-03-27T12:13:59.400" v="1880" actId="113"/>
        <pc:sldMkLst>
          <pc:docMk/>
          <pc:sldMk cId="2857246844" sldId="265"/>
        </pc:sldMkLst>
      </pc:sldChg>
      <pc:sldChg chg="addSp delSp modSp new mod modAnim">
        <pc:chgData name="Cecilia Ferrero" userId="4766952a0d3f2bf5" providerId="LiveId" clId="{A988E22A-9B7D-4E7A-8D02-CE773FB24623}" dt="2025-04-02T15:39:37.098" v="4477" actId="1076"/>
        <pc:sldMkLst>
          <pc:docMk/>
          <pc:sldMk cId="3648195619" sldId="266"/>
        </pc:sldMkLst>
      </pc:sldChg>
      <pc:sldChg chg="addSp delSp modSp new mod">
        <pc:chgData name="Cecilia Ferrero" userId="4766952a0d3f2bf5" providerId="LiveId" clId="{A988E22A-9B7D-4E7A-8D02-CE773FB24623}" dt="2025-03-27T13:02:29.828" v="2322" actId="948"/>
        <pc:sldMkLst>
          <pc:docMk/>
          <pc:sldMk cId="1799812549" sldId="267"/>
        </pc:sldMkLst>
      </pc:sldChg>
      <pc:sldChg chg="addSp modSp new mod">
        <pc:chgData name="Cecilia Ferrero" userId="4766952a0d3f2bf5" providerId="LiveId" clId="{A988E22A-9B7D-4E7A-8D02-CE773FB24623}" dt="2025-04-02T15:38:57.679" v="4475" actId="16959"/>
        <pc:sldMkLst>
          <pc:docMk/>
          <pc:sldMk cId="1526279806" sldId="268"/>
        </pc:sldMkLst>
      </pc:sldChg>
      <pc:sldChg chg="modSp add mod">
        <pc:chgData name="Cecilia Ferrero" userId="4766952a0d3f2bf5" providerId="LiveId" clId="{A988E22A-9B7D-4E7A-8D02-CE773FB24623}" dt="2025-04-03T14:25:08.977" v="4853" actId="1076"/>
        <pc:sldMkLst>
          <pc:docMk/>
          <pc:sldMk cId="1420060059" sldId="269"/>
        </pc:sldMkLst>
      </pc:sldChg>
      <pc:sldChg chg="addSp modSp new del mod">
        <pc:chgData name="Cecilia Ferrero" userId="4766952a0d3f2bf5" providerId="LiveId" clId="{A988E22A-9B7D-4E7A-8D02-CE773FB24623}" dt="2025-03-27T14:50:47.804" v="3855" actId="2696"/>
        <pc:sldMkLst>
          <pc:docMk/>
          <pc:sldMk cId="3458051993" sldId="269"/>
        </pc:sldMkLst>
      </pc:sldChg>
      <pc:sldChg chg="addSp modSp new mod">
        <pc:chgData name="Cecilia Ferrero" userId="4766952a0d3f2bf5" providerId="LiveId" clId="{A988E22A-9B7D-4E7A-8D02-CE773FB24623}" dt="2025-03-27T13:19:01.056" v="2574" actId="1076"/>
        <pc:sldMkLst>
          <pc:docMk/>
          <pc:sldMk cId="3167908330" sldId="270"/>
        </pc:sldMkLst>
      </pc:sldChg>
      <pc:sldChg chg="addSp modSp new mod">
        <pc:chgData name="Cecilia Ferrero" userId="4766952a0d3f2bf5" providerId="LiveId" clId="{A988E22A-9B7D-4E7A-8D02-CE773FB24623}" dt="2025-03-27T13:24:11.067" v="2681" actId="14100"/>
        <pc:sldMkLst>
          <pc:docMk/>
          <pc:sldMk cId="1589023001" sldId="271"/>
        </pc:sldMkLst>
      </pc:sldChg>
      <pc:sldChg chg="addSp modSp new mod">
        <pc:chgData name="Cecilia Ferrero" userId="4766952a0d3f2bf5" providerId="LiveId" clId="{A988E22A-9B7D-4E7A-8D02-CE773FB24623}" dt="2025-04-03T14:09:34.192" v="4687" actId="20577"/>
        <pc:sldMkLst>
          <pc:docMk/>
          <pc:sldMk cId="1316727482" sldId="272"/>
        </pc:sldMkLst>
      </pc:sldChg>
      <pc:sldChg chg="addSp modSp new mod">
        <pc:chgData name="Cecilia Ferrero" userId="4766952a0d3f2bf5" providerId="LiveId" clId="{A988E22A-9B7D-4E7A-8D02-CE773FB24623}" dt="2025-04-03T14:13:27.354" v="4787" actId="20577"/>
        <pc:sldMkLst>
          <pc:docMk/>
          <pc:sldMk cId="3134055556" sldId="273"/>
        </pc:sldMkLst>
      </pc:sldChg>
      <pc:sldChg chg="addSp delSp modSp new mod">
        <pc:chgData name="Cecilia Ferrero" userId="4766952a0d3f2bf5" providerId="LiveId" clId="{A988E22A-9B7D-4E7A-8D02-CE773FB24623}" dt="2025-03-27T14:06:03.153" v="3105" actId="948"/>
        <pc:sldMkLst>
          <pc:docMk/>
          <pc:sldMk cId="2690782547" sldId="274"/>
        </pc:sldMkLst>
      </pc:sldChg>
      <pc:sldChg chg="addSp delSp modSp new mod ord modAnim">
        <pc:chgData name="Cecilia Ferrero" userId="4766952a0d3f2bf5" providerId="LiveId" clId="{A988E22A-9B7D-4E7A-8D02-CE773FB24623}" dt="2025-04-03T14:15:37.704" v="4795" actId="1076"/>
        <pc:sldMkLst>
          <pc:docMk/>
          <pc:sldMk cId="1391968614" sldId="275"/>
        </pc:sldMkLst>
      </pc:sldChg>
      <pc:sldChg chg="addSp delSp modSp add mod">
        <pc:chgData name="Cecilia Ferrero" userId="4766952a0d3f2bf5" providerId="LiveId" clId="{A988E22A-9B7D-4E7A-8D02-CE773FB24623}" dt="2025-04-03T14:16:36.771" v="4799" actId="20577"/>
        <pc:sldMkLst>
          <pc:docMk/>
          <pc:sldMk cId="4235285519" sldId="276"/>
        </pc:sldMkLst>
      </pc:sldChg>
      <pc:sldChg chg="addSp delSp modSp new mod">
        <pc:chgData name="Cecilia Ferrero" userId="4766952a0d3f2bf5" providerId="LiveId" clId="{A988E22A-9B7D-4E7A-8D02-CE773FB24623}" dt="2025-03-27T14:41:29.862" v="3725" actId="1076"/>
        <pc:sldMkLst>
          <pc:docMk/>
          <pc:sldMk cId="1203670790" sldId="277"/>
        </pc:sldMkLst>
      </pc:sldChg>
      <pc:sldChg chg="addSp delSp modSp new mod">
        <pc:chgData name="Cecilia Ferrero" userId="4766952a0d3f2bf5" providerId="LiveId" clId="{A988E22A-9B7D-4E7A-8D02-CE773FB24623}" dt="2025-03-27T14:57:43.980" v="4072" actId="1076"/>
        <pc:sldMkLst>
          <pc:docMk/>
          <pc:sldMk cId="3515644351" sldId="278"/>
        </pc:sldMkLst>
      </pc:sldChg>
      <pc:sldChg chg="addSp delSp modSp new mod">
        <pc:chgData name="Cecilia Ferrero" userId="4766952a0d3f2bf5" providerId="LiveId" clId="{A988E22A-9B7D-4E7A-8D02-CE773FB24623}" dt="2025-03-27T14:50:30.561" v="3852" actId="1076"/>
        <pc:sldMkLst>
          <pc:docMk/>
          <pc:sldMk cId="4281872374" sldId="279"/>
        </pc:sldMkLst>
      </pc:sldChg>
      <pc:sldChg chg="addSp delSp modSp new mod">
        <pc:chgData name="Cecilia Ferrero" userId="4766952a0d3f2bf5" providerId="LiveId" clId="{A988E22A-9B7D-4E7A-8D02-CE773FB24623}" dt="2025-03-27T15:03:51.803" v="4175" actId="1076"/>
        <pc:sldMkLst>
          <pc:docMk/>
          <pc:sldMk cId="2692921410" sldId="280"/>
        </pc:sldMkLst>
      </pc:sldChg>
      <pc:sldChg chg="addSp modSp new mod">
        <pc:chgData name="Cecilia Ferrero" userId="4766952a0d3f2bf5" providerId="LiveId" clId="{A988E22A-9B7D-4E7A-8D02-CE773FB24623}" dt="2025-03-27T14:59:56.628" v="4080"/>
        <pc:sldMkLst>
          <pc:docMk/>
          <pc:sldMk cId="415124515" sldId="281"/>
        </pc:sldMkLst>
      </pc:sldChg>
      <pc:sldChg chg="addSp delSp modSp new mod setBg">
        <pc:chgData name="Cecilia Ferrero" userId="4766952a0d3f2bf5" providerId="LiveId" clId="{A988E22A-9B7D-4E7A-8D02-CE773FB24623}" dt="2025-03-27T15:12:34.393" v="4309" actId="1076"/>
        <pc:sldMkLst>
          <pc:docMk/>
          <pc:sldMk cId="1147781972" sldId="282"/>
        </pc:sldMkLst>
      </pc:sldChg>
      <pc:sldChg chg="addSp modSp new del mod">
        <pc:chgData name="Cecilia Ferrero" userId="4766952a0d3f2bf5" providerId="LiveId" clId="{A988E22A-9B7D-4E7A-8D02-CE773FB24623}" dt="2025-03-27T15:06:03.587" v="4226" actId="2696"/>
        <pc:sldMkLst>
          <pc:docMk/>
          <pc:sldMk cId="2678212679" sldId="283"/>
        </pc:sldMkLst>
      </pc:sldChg>
    </pc:docChg>
  </pc:docChgLst>
  <pc:docChgLst>
    <pc:chgData name="Cecilia Ferrero" userId="4766952a0d3f2bf5" providerId="LiveId" clId="{F5C6D806-49E3-4A1C-A288-6709C621B56E}"/>
    <pc:docChg chg="undo custSel modSld">
      <pc:chgData name="Cecilia Ferrero" userId="4766952a0d3f2bf5" providerId="LiveId" clId="{F5C6D806-49E3-4A1C-A288-6709C621B56E}" dt="2025-08-20T19:00:55.703" v="19" actId="20577"/>
      <pc:docMkLst>
        <pc:docMk/>
      </pc:docMkLst>
      <pc:sldChg chg="modSp mod">
        <pc:chgData name="Cecilia Ferrero" userId="4766952a0d3f2bf5" providerId="LiveId" clId="{F5C6D806-49E3-4A1C-A288-6709C621B56E}" dt="2025-08-20T18:56:38.134" v="5" actId="948"/>
        <pc:sldMkLst>
          <pc:docMk/>
          <pc:sldMk cId="1158039919" sldId="258"/>
        </pc:sldMkLst>
        <pc:spChg chg="mod">
          <ac:chgData name="Cecilia Ferrero" userId="4766952a0d3f2bf5" providerId="LiveId" clId="{F5C6D806-49E3-4A1C-A288-6709C621B56E}" dt="2025-08-20T18:56:38.134" v="5" actId="948"/>
          <ac:spMkLst>
            <pc:docMk/>
            <pc:sldMk cId="1158039919" sldId="258"/>
            <ac:spMk id="4" creationId="{8E73703B-0500-3588-8EF1-14B41EE26C9A}"/>
          </ac:spMkLst>
        </pc:spChg>
      </pc:sldChg>
      <pc:sldChg chg="modSp mod">
        <pc:chgData name="Cecilia Ferrero" userId="4766952a0d3f2bf5" providerId="LiveId" clId="{F5C6D806-49E3-4A1C-A288-6709C621B56E}" dt="2025-08-20T18:56:20.703" v="4" actId="948"/>
        <pc:sldMkLst>
          <pc:docMk/>
          <pc:sldMk cId="3670886982" sldId="259"/>
        </pc:sldMkLst>
        <pc:spChg chg="mod">
          <ac:chgData name="Cecilia Ferrero" userId="4766952a0d3f2bf5" providerId="LiveId" clId="{F5C6D806-49E3-4A1C-A288-6709C621B56E}" dt="2025-08-20T18:56:20.703" v="4" actId="948"/>
          <ac:spMkLst>
            <pc:docMk/>
            <pc:sldMk cId="3670886982" sldId="259"/>
            <ac:spMk id="4" creationId="{9BFD4587-A8C5-5A26-6649-CE87F7C21C09}"/>
          </ac:spMkLst>
        </pc:spChg>
      </pc:sldChg>
      <pc:sldChg chg="modSp mod">
        <pc:chgData name="Cecilia Ferrero" userId="4766952a0d3f2bf5" providerId="LiveId" clId="{F5C6D806-49E3-4A1C-A288-6709C621B56E}" dt="2025-08-20T18:56:08.703" v="3" actId="948"/>
        <pc:sldMkLst>
          <pc:docMk/>
          <pc:sldMk cId="4219616216" sldId="260"/>
        </pc:sldMkLst>
        <pc:spChg chg="mod">
          <ac:chgData name="Cecilia Ferrero" userId="4766952a0d3f2bf5" providerId="LiveId" clId="{F5C6D806-49E3-4A1C-A288-6709C621B56E}" dt="2025-08-20T18:56:08.703" v="3" actId="948"/>
          <ac:spMkLst>
            <pc:docMk/>
            <pc:sldMk cId="4219616216" sldId="260"/>
            <ac:spMk id="4" creationId="{84C155F2-6F88-C42F-7665-C81571E5748F}"/>
          </ac:spMkLst>
        </pc:spChg>
      </pc:sldChg>
      <pc:sldChg chg="modSp mod">
        <pc:chgData name="Cecilia Ferrero" userId="4766952a0d3f2bf5" providerId="LiveId" clId="{F5C6D806-49E3-4A1C-A288-6709C621B56E}" dt="2025-08-20T19:00:55.703" v="19" actId="20577"/>
        <pc:sldMkLst>
          <pc:docMk/>
          <pc:sldMk cId="3167908330" sldId="270"/>
        </pc:sldMkLst>
        <pc:spChg chg="mod">
          <ac:chgData name="Cecilia Ferrero" userId="4766952a0d3f2bf5" providerId="LiveId" clId="{F5C6D806-49E3-4A1C-A288-6709C621B56E}" dt="2025-08-20T19:00:55.703" v="19" actId="20577"/>
          <ac:spMkLst>
            <pc:docMk/>
            <pc:sldMk cId="3167908330" sldId="270"/>
            <ac:spMk id="3" creationId="{9CD973AE-1AFC-91B0-A151-E2F47D9EE4F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6B8A1-AC63-4A53-BF19-49E441DDA72E}" type="datetimeFigureOut">
              <a:rPr lang="es-AR" smtClean="0"/>
              <a:t>1/9/2025</a:t>
            </a:fld>
            <a:endParaRPr lang="es-AR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AR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AR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FCF4738-8BA0-4C34-9F81-948756CD9C57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6836505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F4738-8BA0-4C34-9F81-948756CD9C57}" type="slidenum">
              <a:rPr lang="es-AR" smtClean="0"/>
              <a:t>5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431838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AR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FCF4738-8BA0-4C34-9F81-948756CD9C57}" type="slidenum">
              <a:rPr lang="es-AR" smtClean="0"/>
              <a:t>6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903493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AB4AE-449C-4032-A71D-15EE44A4EE43}" type="datetimeFigureOut">
              <a:rPr lang="es-AR" smtClean="0"/>
              <a:t>1/9/2025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953E-8CAE-4A05-A70C-B86FCD1C67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581157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AB4AE-449C-4032-A71D-15EE44A4EE43}" type="datetimeFigureOut">
              <a:rPr lang="es-AR" smtClean="0"/>
              <a:t>1/9/2025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953E-8CAE-4A05-A70C-B86FCD1C67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12169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AB4AE-449C-4032-A71D-15EE44A4EE43}" type="datetimeFigureOut">
              <a:rPr lang="es-AR" smtClean="0"/>
              <a:t>1/9/2025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953E-8CAE-4A05-A70C-B86FCD1C67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16343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AB4AE-449C-4032-A71D-15EE44A4EE43}" type="datetimeFigureOut">
              <a:rPr lang="es-AR" smtClean="0"/>
              <a:t>1/9/2025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953E-8CAE-4A05-A70C-B86FCD1C67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7619368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AB4AE-449C-4032-A71D-15EE44A4EE43}" type="datetimeFigureOut">
              <a:rPr lang="es-AR" smtClean="0"/>
              <a:t>1/9/2025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953E-8CAE-4A05-A70C-B86FCD1C67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59590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AB4AE-449C-4032-A71D-15EE44A4EE43}" type="datetimeFigureOut">
              <a:rPr lang="es-AR" smtClean="0"/>
              <a:t>1/9/2025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953E-8CAE-4A05-A70C-B86FCD1C67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4599868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AB4AE-449C-4032-A71D-15EE44A4EE43}" type="datetimeFigureOut">
              <a:rPr lang="es-AR" smtClean="0"/>
              <a:t>1/9/2025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953E-8CAE-4A05-A70C-B86FCD1C67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73625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AB4AE-449C-4032-A71D-15EE44A4EE43}" type="datetimeFigureOut">
              <a:rPr lang="es-AR" smtClean="0"/>
              <a:t>1/9/2025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953E-8CAE-4A05-A70C-B86FCD1C67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74928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AB4AE-449C-4032-A71D-15EE44A4EE43}" type="datetimeFigureOut">
              <a:rPr lang="es-AR" smtClean="0"/>
              <a:t>1/9/2025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953E-8CAE-4A05-A70C-B86FCD1C67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20120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AB4AE-449C-4032-A71D-15EE44A4EE43}" type="datetimeFigureOut">
              <a:rPr lang="es-AR" smtClean="0"/>
              <a:t>1/9/2025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953E-8CAE-4A05-A70C-B86FCD1C67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201623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AB4AE-449C-4032-A71D-15EE44A4EE43}" type="datetimeFigureOut">
              <a:rPr lang="es-AR" smtClean="0"/>
              <a:t>1/9/2025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D953E-8CAE-4A05-A70C-B86FCD1C67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019192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9AB4AE-449C-4032-A71D-15EE44A4EE43}" type="datetimeFigureOut">
              <a:rPr lang="es-AR" smtClean="0"/>
              <a:t>1/9/2025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FD953E-8CAE-4A05-A70C-B86FCD1C6773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31150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emf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2.emf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2BB203-F8D5-41F8-A7C7-7EE93DDF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150273"/>
            <a:ext cx="7886700" cy="2742293"/>
          </a:xfrm>
          <a:prstGeom prst="roundRect">
            <a:avLst>
              <a:gd name="adj" fmla="val 17250"/>
            </a:avLst>
          </a:prstGeom>
          <a:solidFill>
            <a:schemeClr val="accent1"/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marL="136922"/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Unidad 2</a:t>
            </a:r>
            <a:b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Probabilidad y Variables Aleatorias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1AF51A4-5151-4DD3-4EAE-7943F932A2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4112311"/>
            <a:ext cx="7886700" cy="2288489"/>
          </a:xfrm>
        </p:spPr>
        <p:txBody>
          <a:bodyPr>
            <a:normAutofit/>
          </a:bodyPr>
          <a:lstStyle/>
          <a:p>
            <a:pPr algn="ctr"/>
            <a:r>
              <a:rPr lang="es-AR" sz="26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Probabilidad y Estadística 2025</a:t>
            </a:r>
          </a:p>
          <a:p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r"/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Dra. Ma. Cecilia Ferrero</a:t>
            </a:r>
          </a:p>
          <a:p>
            <a:pPr algn="r"/>
            <a:r>
              <a:rPr lang="es-AR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Prof. Lic. Sebastián </a:t>
            </a:r>
            <a:r>
              <a:rPr lang="es-AR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Filipigh</a:t>
            </a:r>
            <a:endParaRPr lang="es-A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7274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8E73703B-0500-3588-8EF1-14B41EE26C9A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Aleatorias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5658DD13-5A05-6150-7D1D-F29D25599CA4}"/>
              </a:ext>
            </a:extLst>
          </p:cNvPr>
          <p:cNvSpPr txBox="1"/>
          <p:nvPr/>
        </p:nvSpPr>
        <p:spPr>
          <a:xfrm>
            <a:off x="488515" y="1712593"/>
            <a:ext cx="8166970" cy="4001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s-AR" sz="28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Consideremos los siguientes </a:t>
            </a:r>
            <a:r>
              <a:rPr lang="es-AR" sz="2800" b="1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experimentos aleatorios</a:t>
            </a:r>
            <a:r>
              <a:rPr lang="es-AR" sz="28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y sus </a:t>
            </a:r>
            <a:r>
              <a:rPr lang="es-AR" sz="2800" b="1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espacios muestrales</a:t>
            </a:r>
          </a:p>
          <a:p>
            <a:pPr marL="571500" indent="-571500" algn="l">
              <a:spcAft>
                <a:spcPts val="1200"/>
              </a:spcAft>
              <a:buFont typeface="+mj-lt"/>
              <a:buAutoNum type="romanUcPeriod"/>
            </a:pPr>
            <a:r>
              <a:rPr lang="es-AR" sz="28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Seleccionar al azar 3 componentes de un conjunto de 10 y verificar si cumplen con la especificaciones.</a:t>
            </a:r>
          </a:p>
          <a:p>
            <a:pPr marL="571500" indent="-571500" algn="l">
              <a:spcAft>
                <a:spcPts val="1200"/>
              </a:spcAft>
              <a:buFont typeface="+mj-lt"/>
              <a:buAutoNum type="romanUcPeriod"/>
            </a:pPr>
            <a:r>
              <a:rPr lang="es-AR" sz="28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Inspeccionar un lote de productos y contar el número de defectuosos.</a:t>
            </a:r>
          </a:p>
          <a:p>
            <a:pPr marL="571500" indent="-571500" algn="l">
              <a:spcAft>
                <a:spcPts val="1200"/>
              </a:spcAft>
              <a:buFont typeface="+mj-lt"/>
              <a:buAutoNum type="romanUcPeriod"/>
            </a:pPr>
            <a:r>
              <a:rPr lang="es-AR" sz="28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Medir el tiempo de producción de una pieza en una máquina y registrar el valor.</a:t>
            </a:r>
            <a:endParaRPr lang="es-AR" sz="2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80399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332AAF1-0D50-16AA-DD45-2D85FA1FC752}"/>
                  </a:ext>
                </a:extLst>
              </p:cNvPr>
              <p:cNvSpPr txBox="1"/>
              <p:nvPr/>
            </p:nvSpPr>
            <p:spPr>
              <a:xfrm>
                <a:off x="196815" y="1588978"/>
                <a:ext cx="8750369" cy="40010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Los </a:t>
                </a:r>
                <a:r>
                  <a:rPr lang="es-AR" sz="2800" b="1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espacios muestrales </a:t>
                </a: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son</a:t>
                </a:r>
              </a:p>
              <a:p>
                <a:pPr marL="571500" indent="-571500" algn="l">
                  <a:spcAft>
                    <a:spcPts val="1200"/>
                  </a:spcAft>
                  <a:buFont typeface="+mj-lt"/>
                  <a:buAutoNum type="roman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sz="2800" b="0" i="1" u="none" strike="noStrike" baseline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AR" sz="2800" b="0" i="1" u="none" strike="noStrike" baseline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</m:t>
                        </m:r>
                      </m:e>
                      <m:sub>
                        <m:r>
                          <a:rPr lang="es-AR" sz="2800" b="0" i="1" u="none" strike="noStrike" baseline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1</m:t>
                        </m:r>
                      </m:sub>
                    </m:sSub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𝐶𝐶𝐶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𝐶𝐶𝐷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𝐶𝐷𝐶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𝐷𝐶𝐶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𝐶𝐷𝐷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𝐷𝐶𝐷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𝐷𝐷𝐶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𝐷𝐷𝐷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 </m:t>
                    </m:r>
                  </m:oMath>
                </a14:m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donde </a:t>
                </a:r>
                <a:r>
                  <a:rPr lang="es-AR" sz="2800" b="0" i="1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</a:t>
                </a: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significa que el componente cumple con las especificaciones y D que no lo hace</a:t>
                </a:r>
              </a:p>
              <a:p>
                <a:pPr marL="571500" indent="-571500">
                  <a:spcAft>
                    <a:spcPts val="1200"/>
                  </a:spcAft>
                  <a:buFont typeface="+mj-lt"/>
                  <a:buAutoNum type="roman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A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</m:t>
                        </m:r>
                      </m:e>
                      <m:sub>
                        <m:r>
                          <a:rPr lang="es-A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2</m:t>
                        </m:r>
                      </m:sub>
                    </m:sSub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 {0, 1, 2, . . . , 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𝑛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 </m:t>
                    </m:r>
                  </m:oMath>
                </a14:m>
                <a:b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donde </a:t>
                </a:r>
                <a:r>
                  <a:rPr lang="es-AR" sz="2800" b="0" i="1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</a:t>
                </a: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es el número total de productos en el lote</a:t>
                </a:r>
              </a:p>
              <a:p>
                <a:pPr marL="571500" indent="-571500">
                  <a:spcAft>
                    <a:spcPts val="1200"/>
                  </a:spcAft>
                  <a:buFont typeface="+mj-lt"/>
                  <a:buAutoNum type="romanU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s-A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A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𝑆</m:t>
                        </m:r>
                      </m:e>
                      <m:sub>
                        <m:r>
                          <a:rPr lang="es-A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3</m:t>
                        </m:r>
                      </m:sub>
                    </m:sSub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𝑅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: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𝑡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≥0} </m:t>
                    </m:r>
                  </m:oMath>
                </a14:m>
                <a:b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donde </a:t>
                </a:r>
                <a:r>
                  <a:rPr lang="es-AR" sz="2800" b="0" i="1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</a:t>
                </a: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representa el tiempo medido</a:t>
                </a:r>
                <a:endParaRPr lang="es-AR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332AAF1-0D50-16AA-DD45-2D85FA1FC7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815" y="1588978"/>
                <a:ext cx="8750369" cy="4001095"/>
              </a:xfrm>
              <a:prstGeom prst="rect">
                <a:avLst/>
              </a:prstGeom>
              <a:blipFill>
                <a:blip r:embed="rId2"/>
                <a:stretch>
                  <a:fillRect l="-1393" t="-1524" b="-350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3">
            <a:extLst>
              <a:ext uri="{FF2B5EF4-FFF2-40B4-BE49-F238E27FC236}">
                <a16:creationId xmlns:a16="http://schemas.microsoft.com/office/drawing/2014/main" id="{9BFD4587-A8C5-5A26-6649-CE87F7C21C0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Aleatorias</a:t>
            </a:r>
          </a:p>
        </p:txBody>
      </p:sp>
    </p:spTree>
    <p:extLst>
      <p:ext uri="{BB962C8B-B14F-4D97-AF65-F5344CB8AC3E}">
        <p14:creationId xmlns:p14="http://schemas.microsoft.com/office/powerpoint/2010/main" val="3670886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5AC24D5-39CD-C400-3461-558F0B14C9A5}"/>
                  </a:ext>
                </a:extLst>
              </p:cNvPr>
              <p:cNvSpPr txBox="1"/>
              <p:nvPr/>
            </p:nvSpPr>
            <p:spPr>
              <a:xfrm>
                <a:off x="183819" y="1079917"/>
                <a:ext cx="8845881" cy="3984069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174625">
                  <a:buNone/>
                </a:pPr>
                <a:r>
                  <a:rPr lang="es-AR" sz="2800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Para un espacio muestral dado </a:t>
                </a:r>
                <a:r>
                  <a:rPr lang="es-AR" sz="2800" i="1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</a:t>
                </a:r>
                <a:r>
                  <a:rPr lang="es-AR" sz="2800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 algún experimento, </a:t>
                </a:r>
                <a:r>
                  <a:rPr lang="es-AR" sz="2800" b="1" kern="0" dirty="0">
                    <a:solidFill>
                      <a:srgbClr val="262524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</a:t>
                </a:r>
                <a:r>
                  <a:rPr lang="es-AR" sz="2800" b="1" kern="0" dirty="0">
                    <a:solidFill>
                      <a:srgbClr val="262524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na variable aleatoria (</a:t>
                </a:r>
                <a:r>
                  <a:rPr lang="es-AR" sz="2800" b="1" kern="0" dirty="0" err="1">
                    <a:solidFill>
                      <a:srgbClr val="262524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v.a.</a:t>
                </a:r>
                <a:r>
                  <a:rPr lang="es-AR" sz="2800" b="1" kern="0" dirty="0">
                    <a:solidFill>
                      <a:srgbClr val="262524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es una función que asocia un número real con cada elemento del espacio muestral</a:t>
                </a:r>
                <a:r>
                  <a:rPr lang="es-AR" sz="2800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En lenguaje matemático, una variable aleatoria es una función cuyo dominio es el espacio muestral y cuyo rango es el conjunto de los números reales </a:t>
                </a:r>
                <a:endParaRPr lang="es-AR" sz="28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3200" i="1" kern="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𝑋</m:t>
                      </m:r>
                      <m:r>
                        <a:rPr lang="es-AR" sz="3200" i="1" kern="0" dirty="0" smtClean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: </m:t>
                      </m:r>
                      <m:r>
                        <m:rPr>
                          <m:sty m:val="p"/>
                        </m:rPr>
                        <a:rPr lang="en-GB" sz="3200" i="0" kern="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m:t>Ω</m:t>
                      </m:r>
                      <m:r>
                        <a:rPr lang="en-GB" sz="3200" i="1" kern="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libri" panose="020F0502020204030204" pitchFamily="34" charset="0"/>
                          <a:sym typeface="Wingdings" panose="05000000000000000000" pitchFamily="2" charset="2"/>
                        </a:rPr>
                        <m:t></m:t>
                      </m:r>
                      <m:r>
                        <a:rPr lang="es-AR" sz="3200" i="1" kern="0" dirty="0">
                          <a:solidFill>
                            <a:srgbClr val="000000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  <a:cs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es-AR" sz="32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5AC24D5-39CD-C400-3461-558F0B14C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819" y="1079917"/>
                <a:ext cx="8845881" cy="3984069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3">
            <a:extLst>
              <a:ext uri="{FF2B5EF4-FFF2-40B4-BE49-F238E27FC236}">
                <a16:creationId xmlns:a16="http://schemas.microsoft.com/office/drawing/2014/main" id="{84C155F2-6F88-C42F-7665-C81571E5748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Aleatorias - Definición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B6A45E7-4B48-F994-6955-AE533C0BE2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8202" y="5165625"/>
            <a:ext cx="3924300" cy="1476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616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91A97288-EBEF-8B52-E463-73DEFE2493A6}"/>
              </a:ext>
            </a:extLst>
          </p:cNvPr>
          <p:cNvSpPr txBox="1"/>
          <p:nvPr/>
        </p:nvSpPr>
        <p:spPr>
          <a:xfrm>
            <a:off x="419621" y="1856125"/>
            <a:ext cx="8574066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s-AR" sz="2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Según el </a:t>
            </a:r>
            <a:r>
              <a:rPr lang="es-AR" sz="28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tipo de espacio muestral </a:t>
            </a:r>
            <a:r>
              <a:rPr lang="es-AR" sz="2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asociado, las variables </a:t>
            </a:r>
            <a:r>
              <a:rPr lang="es-AR" sz="2800" kern="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a</a:t>
            </a:r>
            <a:r>
              <a:rPr lang="es-AR" sz="28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leatorias se pueden clasificar en</a:t>
            </a:r>
            <a:endParaRPr lang="es-AR" sz="2800" i="0" u="none" strike="noStrike" baseline="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AR" sz="2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DISCRETAS:</a:t>
            </a:r>
            <a:r>
              <a:rPr lang="es-AR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toma un número finito o contable de valores </a:t>
            </a:r>
            <a:r>
              <a:rPr lang="es-AR" sz="2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posibles</a:t>
            </a:r>
            <a:r>
              <a:rPr lang="es-AR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(asociado a un espacio muestral discreto)</a:t>
            </a:r>
          </a:p>
          <a:p>
            <a:pPr marL="457200" indent="-457200" algn="l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AR" sz="28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CONTINUAS: </a:t>
            </a:r>
            <a:r>
              <a:rPr lang="es-AR" sz="28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puede asumir un número infinito de valores dentro de un intervalo de la recta real (asociada a un espacio muestral continuo)</a:t>
            </a: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21878C07-37E4-EAE2-4AAE-25E9C624475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Aleatorias</a:t>
            </a:r>
          </a:p>
        </p:txBody>
      </p:sp>
    </p:spTree>
    <p:extLst>
      <p:ext uri="{BB962C8B-B14F-4D97-AF65-F5344CB8AC3E}">
        <p14:creationId xmlns:p14="http://schemas.microsoft.com/office/powerpoint/2010/main" val="15571762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6582C837-FE93-05E8-90B7-FAB18868C1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Aleatorias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D09FD38-442A-3D12-8E19-4707AACC9B8E}"/>
                  </a:ext>
                </a:extLst>
              </p:cNvPr>
              <p:cNvSpPr txBox="1"/>
              <p:nvPr/>
            </p:nvSpPr>
            <p:spPr>
              <a:xfrm>
                <a:off x="241125" y="1908199"/>
                <a:ext cx="8661749" cy="48320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801688" indent="-514350" algn="l">
                  <a:buFont typeface="+mj-lt"/>
                  <a:buAutoNum type="romanUcPeriod"/>
                </a:pPr>
                <a:r>
                  <a:rPr lang="es-AR" sz="24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Y = Número de componentes que cumplen con las especificaciones entre los 3 seleccionados.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𝑌</m:t>
                      </m:r>
                      <m:r>
                        <a:rPr lang="es-AR" sz="2400" b="0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: </m:t>
                      </m:r>
                      <m:r>
                        <a:rPr lang="es-AR" sz="2400" b="0" i="1" u="none" strike="noStrike" baseline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</m:t>
                      </m:r>
                      <m:r>
                        <a:rPr lang="es-AR" sz="2400" b="0" i="1" u="none" strike="noStrike" baseline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1 → {0, 1, 2, 3}</m:t>
                      </m:r>
                    </m:oMath>
                  </m:oMathPara>
                </a14:m>
                <a:endParaRPr lang="es-AR" sz="2400" b="0" i="0" u="none" strike="noStrike" baseline="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l">
                  <a:spcAft>
                    <a:spcPts val="1200"/>
                  </a:spcAft>
                </a:pPr>
                <a:r>
                  <a:rPr lang="es-AR" sz="24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     </a:t>
                </a:r>
                <a:r>
                  <a:rPr lang="es-AR" sz="2400" b="0" i="0" u="sng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Tipo de </a:t>
                </a:r>
                <a:r>
                  <a:rPr lang="es-AR" sz="2400" b="0" i="0" u="sng" strike="noStrike" baseline="0" dirty="0" err="1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v.a</a:t>
                </a:r>
                <a:r>
                  <a:rPr lang="es-AR" sz="24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Discreta</a:t>
                </a:r>
              </a:p>
              <a:p>
                <a:pPr marL="801688" indent="-514350" algn="l">
                  <a:buFont typeface="+mj-lt"/>
                  <a:buAutoNum type="romanUcPeriod" startAt="2"/>
                </a:pPr>
                <a:r>
                  <a:rPr lang="es-AR" sz="24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 = Número de productos defectuosos en el lote inspeccionado.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𝐷</m:t>
                      </m:r>
                      <m:r>
                        <a:rPr lang="es-AR" sz="2400" b="0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: </m:t>
                      </m:r>
                      <m:r>
                        <a:rPr lang="es-AR" sz="2400" b="0" i="1" u="none" strike="noStrike" baseline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</m:t>
                      </m:r>
                      <m:r>
                        <a:rPr lang="es-AR" sz="2400" b="0" i="1" u="none" strike="noStrike" baseline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2 → {0, 1, 2, . . . , </m:t>
                      </m:r>
                      <m:r>
                        <a:rPr lang="es-AR" sz="2400" b="0" i="1" u="none" strike="noStrike" baseline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𝑛</m:t>
                      </m:r>
                      <m:r>
                        <a:rPr lang="es-AR" sz="2400" b="0" i="1" u="none" strike="noStrike" baseline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}</m:t>
                      </m:r>
                    </m:oMath>
                  </m:oMathPara>
                </a14:m>
                <a:endParaRPr lang="es-AR" sz="2400" b="0" i="0" u="none" strike="noStrike" baseline="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l">
                  <a:spcAft>
                    <a:spcPts val="1200"/>
                  </a:spcAft>
                </a:pPr>
                <a:r>
                  <a:rPr lang="es-AR" sz="24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           </a:t>
                </a:r>
                <a:r>
                  <a:rPr lang="es-AR" sz="2400" b="0" i="0" u="sng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Tipo de </a:t>
                </a:r>
                <a:r>
                  <a:rPr lang="es-AR" sz="2400" b="0" i="0" u="sng" strike="noStrike" baseline="0" dirty="0" err="1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v.a</a:t>
                </a:r>
                <a:r>
                  <a:rPr lang="es-AR" sz="24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Discreta</a:t>
                </a:r>
              </a:p>
              <a:p>
                <a:pPr marL="801688" indent="-514350" algn="l">
                  <a:buFont typeface="+mj-lt"/>
                  <a:buAutoNum type="romanUcPeriod" startAt="3"/>
                </a:pPr>
                <a:r>
                  <a:rPr lang="es-AR" sz="24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 = Tiempo de producción de una pieza en la máquina (medido en minutos, segundos, etc.).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400" b="0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𝑇</m:t>
                      </m:r>
                      <m:r>
                        <a:rPr lang="es-AR" sz="2400" b="0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: </m:t>
                      </m:r>
                      <m:r>
                        <a:rPr lang="es-AR" sz="2400" b="0" i="1" u="none" strike="noStrike" baseline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𝑆</m:t>
                      </m:r>
                      <m:r>
                        <a:rPr lang="es-AR" sz="2400" b="0" i="1" u="none" strike="noStrike" baseline="0" dirty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3 → [0,∞)</m:t>
                      </m:r>
                    </m:oMath>
                  </m:oMathPara>
                </a14:m>
                <a:endParaRPr lang="es-AR" sz="2400" b="0" i="0" u="none" strike="noStrike" baseline="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l"/>
                <a:r>
                  <a:rPr lang="es-AR" sz="24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	      </a:t>
                </a:r>
                <a:r>
                  <a:rPr lang="es-AR" sz="2400" b="0" i="0" u="sng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Tipo de </a:t>
                </a:r>
                <a:r>
                  <a:rPr lang="es-AR" sz="2400" b="0" i="0" u="sng" strike="noStrike" baseline="0" dirty="0" err="1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v.a</a:t>
                </a:r>
                <a:r>
                  <a:rPr lang="es-AR" sz="24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: Continua</a:t>
                </a:r>
                <a:endParaRPr lang="es-AR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4D09FD38-442A-3D12-8E19-4707AACC9B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125" y="1908199"/>
                <a:ext cx="8661749" cy="4832092"/>
              </a:xfrm>
              <a:prstGeom prst="rect">
                <a:avLst/>
              </a:prstGeom>
              <a:blipFill>
                <a:blip r:embed="rId3"/>
                <a:stretch>
                  <a:fillRect t="-1135" b="-189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uadroTexto 2">
            <a:extLst>
              <a:ext uri="{FF2B5EF4-FFF2-40B4-BE49-F238E27FC236}">
                <a16:creationId xmlns:a16="http://schemas.microsoft.com/office/drawing/2014/main" id="{72C6ED04-0EBF-A17D-08BB-B9BBF1E0D8A7}"/>
              </a:ext>
            </a:extLst>
          </p:cNvPr>
          <p:cNvSpPr txBox="1"/>
          <p:nvPr/>
        </p:nvSpPr>
        <p:spPr>
          <a:xfrm>
            <a:off x="169874" y="1038923"/>
            <a:ext cx="8733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</a:pPr>
            <a:r>
              <a:rPr lang="es-AR" sz="2400" b="1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Volviendo con los ejemplos anteriores, </a:t>
            </a:r>
            <a:r>
              <a:rPr lang="es-AR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identificar las </a:t>
            </a:r>
            <a:r>
              <a:rPr lang="es-AR" sz="2400" b="1" i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v.a.</a:t>
            </a:r>
            <a:r>
              <a:rPr lang="es-AR" sz="2400" b="1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 indicar de qué tipo son</a:t>
            </a:r>
            <a:endParaRPr lang="es-AR" sz="2400" b="0" i="1" u="none" strike="noStrike" baseline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195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7D712640-0F88-4C5F-72BB-97396AD5C03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Aleatorias - Definición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E83B96-6A2E-4D5F-262F-6A3D61A5BF5A}"/>
              </a:ext>
            </a:extLst>
          </p:cNvPr>
          <p:cNvSpPr txBox="1"/>
          <p:nvPr/>
        </p:nvSpPr>
        <p:spPr>
          <a:xfrm>
            <a:off x="375781" y="1377863"/>
            <a:ext cx="8455067" cy="49090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s-A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Observaciones: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A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 variables Aleatorias se suelen designar con letras mayúsculas X, Y, Z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AR" sz="24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X(s) =</a:t>
            </a:r>
            <a:r>
              <a:rPr lang="es-AR" sz="2400" i="1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</a:t>
            </a:r>
            <a:r>
              <a:rPr lang="es-AR" sz="24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significa que </a:t>
            </a:r>
            <a:r>
              <a:rPr lang="es-AR" sz="2400" i="1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 </a:t>
            </a:r>
            <a:r>
              <a:rPr lang="es-AR" sz="24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 el valor asociado con el resultado </a:t>
            </a:r>
            <a:r>
              <a:rPr lang="es-AR" sz="2400" i="1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</a:t>
            </a:r>
            <a:r>
              <a:rPr lang="es-AR" sz="24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por medio de la variable aleatoria </a:t>
            </a:r>
            <a:r>
              <a:rPr lang="es-AR" sz="2400" i="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X. </a:t>
            </a:r>
            <a:r>
              <a:rPr lang="es-AR" sz="2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 decir,</a:t>
            </a:r>
            <a:r>
              <a:rPr lang="es-AR" sz="2400" i="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 </a:t>
            </a:r>
            <a:r>
              <a:rPr lang="es-AR" sz="2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representa un valor posible de la </a:t>
            </a:r>
            <a:r>
              <a:rPr lang="es-AR" sz="2400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v.a.</a:t>
            </a:r>
            <a:endParaRPr lang="es-AR" sz="2400" dirty="0">
              <a:solidFill>
                <a:srgbClr val="231F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AR" sz="24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</a:t>
            </a:r>
            <a:r>
              <a:rPr lang="es-AR" sz="2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s-AR" sz="24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o mas elementos del espacio muestral se les puede asignar el mismo número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AR" sz="2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los distintos valores posibles de la </a:t>
            </a:r>
            <a:r>
              <a:rPr lang="es-AR" sz="2400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v.a.</a:t>
            </a:r>
            <a:r>
              <a:rPr lang="es-AR" sz="2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X, se les puede asignar Probabilidad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s-AR" sz="2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</a:t>
            </a:r>
            <a:r>
              <a:rPr lang="es-AR" sz="2400" b="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Distribución de Probabilidades </a:t>
            </a:r>
            <a:r>
              <a:rPr lang="es-AR" sz="2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el comportamiento esperado de una variable aleatoria</a:t>
            </a:r>
            <a:endParaRPr lang="es-A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286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13E34E91-7064-50F1-2F09-A4AF61451F5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Aleatorias Discretas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32CD6F0-9C03-A372-16C0-CBFC5BB66705}"/>
                  </a:ext>
                </a:extLst>
              </p:cNvPr>
              <p:cNvSpPr txBox="1"/>
              <p:nvPr/>
            </p:nvSpPr>
            <p:spPr>
              <a:xfrm>
                <a:off x="266178" y="1481368"/>
                <a:ext cx="8611643" cy="3565788"/>
              </a:xfrm>
              <a:prstGeom prst="roundRect">
                <a:avLst>
                  <a:gd name="adj" fmla="val 11244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174625" algn="l">
                  <a:spcAft>
                    <a:spcPts val="600"/>
                  </a:spcAft>
                </a:pPr>
                <a:r>
                  <a:rPr lang="es-AR" sz="2800" b="1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Función de masa de Probabilidad </a:t>
                </a:r>
                <a:r>
                  <a:rPr lang="es-AR" sz="2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 una </a:t>
                </a:r>
                <a:r>
                  <a:rPr lang="es-AR" sz="2800" b="0" i="0" u="none" strike="noStrike" baseline="0" dirty="0" err="1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v.a.</a:t>
                </a:r>
                <a:r>
                  <a:rPr lang="es-AR" sz="2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discreta es una función</a:t>
                </a:r>
                <a:r>
                  <a:rPr lang="es-AR" sz="2800" i="1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: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𝑅</m:t>
                    </m:r>
                    <m:r>
                      <a:rPr lang="es-AR" sz="2800" b="0" i="1" u="none" strike="noStrike" baseline="0" dirty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→[0, 1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] </m:t>
                    </m:r>
                  </m:oMath>
                </a14:m>
                <a:r>
                  <a:rPr lang="es-AR" sz="2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que para cada valor </a:t>
                </a: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</m:oMath>
                </a14:m>
                <a:r>
                  <a:rPr lang="es-AR" sz="2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r>
                  <a:rPr lang="es-AR" sz="2800" b="0" i="0" u="none" strike="noStrike" baseline="0" dirty="0" err="1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</a:t>
                </a:r>
                <a:r>
                  <a:rPr lang="es-AR" sz="2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la variable aleatoria discreta </a:t>
                </a: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s-AR" sz="2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le asigna una probabilidad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AR" sz="2800" b="0" i="0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P</m:t>
                    </m:r>
                    <m:d>
                      <m:dPr>
                        <m:ctrlP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𝑋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=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s-AR" sz="2800" b="0" i="0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.</m:t>
                    </m:r>
                  </m:oMath>
                </a14:m>
                <a:r>
                  <a:rPr lang="es-AR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Es decir </a:t>
                </a:r>
                <a14:m>
                  <m:oMath xmlns:m="http://schemas.openxmlformats.org/officeDocument/2006/math">
                    <m:r>
                      <a:rPr lang="es-AR" sz="2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d>
                      <m:dPr>
                        <m:ctrlPr>
                          <a:rPr lang="es-AR" sz="2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s-AR" sz="2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s-AR" sz="2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s-AR" sz="2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s-AR" sz="2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s-AR" sz="2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s-AR" sz="2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s-AR" sz="2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s-AR" sz="28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s-AR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174625" algn="l">
                  <a:spcAft>
                    <a:spcPts val="600"/>
                  </a:spcAft>
                </a:pPr>
                <a:r>
                  <a:rPr lang="es-AR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Esta función debe cumplir: </a:t>
                </a:r>
              </a:p>
              <a:p>
                <a:pPr marL="631825" indent="-457200" algn="l">
                  <a:spcAft>
                    <a:spcPts val="6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a:rPr lang="es-AR" sz="2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d>
                      <m:dPr>
                        <m:ctrlPr>
                          <a:rPr lang="es-AR" sz="2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s-AR" sz="2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</m:e>
                    </m:d>
                    <m:r>
                      <a:rPr lang="es-AR" sz="28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≥0</m:t>
                    </m:r>
                  </m:oMath>
                </a14:m>
                <a:endParaRPr lang="es-AR" sz="2800" b="0" dirty="0">
                  <a:latin typeface="Calibri" panose="020F0502020204030204" pitchFamily="34" charset="0"/>
                  <a:ea typeface="Cambria Math" panose="02040503050406030204" pitchFamily="18" charset="0"/>
                  <a:cs typeface="Calibri" panose="020F0502020204030204" pitchFamily="34" charset="0"/>
                </a:endParaRPr>
              </a:p>
              <a:p>
                <a:pPr marL="631825" indent="-457200" algn="l">
                  <a:buFontTx/>
                  <a:buChar char="-"/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supHide m:val="on"/>
                        <m:ctrlPr>
                          <a:rPr lang="es-AR" sz="280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s-AR" sz="2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</m:t>
                        </m:r>
                      </m:sub>
                      <m:sup/>
                      <m:e>
                        <m:sSub>
                          <m:sSubPr>
                            <m:ctrlPr>
                              <a:rPr lang="es-AR" sz="280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</m:ctrlPr>
                          </m:sSubPr>
                          <m:e>
                            <m:r>
                              <a:rPr lang="es-AR" sz="2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𝑝</m:t>
                            </m:r>
                            <m:r>
                              <a:rPr lang="es-AR" sz="2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(</m:t>
                            </m:r>
                            <m:r>
                              <a:rPr lang="es-AR" sz="2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s-AR" sz="2800" b="0" i="1" smtClean="0">
                                <a:latin typeface="Cambria Math" panose="02040503050406030204" pitchFamily="18" charset="0"/>
                                <a:ea typeface="Calibri" panose="020F0502020204030204" pitchFamily="34" charset="0"/>
                                <a:cs typeface="Calibri" panose="020F0502020204030204" pitchFamily="34" charset="0"/>
                              </a:rPr>
                              <m:t>𝑖</m:t>
                            </m:r>
                          </m:sub>
                        </m:sSub>
                        <m:r>
                          <a:rPr lang="es-AR" sz="2800" b="0" i="1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</m:nary>
                    <m:r>
                      <a:rPr lang="es-AR" sz="28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=1</m:t>
                    </m:r>
                  </m:oMath>
                </a14:m>
                <a:endParaRPr lang="es-AR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32CD6F0-9C03-A372-16C0-CBFC5BB667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178" y="1481368"/>
                <a:ext cx="8611643" cy="3565788"/>
              </a:xfrm>
              <a:prstGeom prst="roundRect">
                <a:avLst>
                  <a:gd name="adj" fmla="val 11244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27893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BC7CC310-8BC3-26D9-F994-04A268539795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Distribución de Probabilidad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9797420-77C8-E219-B5FF-4D2A54935EE2}"/>
                  </a:ext>
                </a:extLst>
              </p:cNvPr>
              <p:cNvSpPr txBox="1"/>
              <p:nvPr/>
            </p:nvSpPr>
            <p:spPr>
              <a:xfrm>
                <a:off x="263046" y="1189632"/>
                <a:ext cx="8617907" cy="26930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s-AR" sz="24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EJEMPLO</a:t>
                </a:r>
                <a:endParaRPr lang="es-AR" sz="2400" b="1" i="0" u="none" strike="noStrike" baseline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AR" sz="2400" b="0" i="0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Experimento aleatorio: </a:t>
                </a:r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arrojar dos monedas y ver las caras expuestas.</a:t>
                </a:r>
              </a:p>
              <a:p>
                <a:pPr marL="342900" indent="-34290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X: N</a:t>
                </a:r>
                <a:r>
                  <a:rPr lang="es-A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ú</a:t>
                </a:r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mero de caras en el lanzamiento de dos monedas</a:t>
                </a:r>
              </a:p>
              <a:p>
                <a:pPr marL="342900" indent="-342900" algn="l">
                  <a:spcAft>
                    <a:spcPts val="1200"/>
                  </a:spcAft>
                  <a:buFont typeface="Arial" panose="020B0604020202020204" pitchFamily="34" charset="0"/>
                  <a:buChar char="•"/>
                </a:pPr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Espacio muestral: </a:t>
                </a:r>
                <a14:m>
                  <m:oMath xmlns:m="http://schemas.openxmlformats.org/officeDocument/2006/math"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𝑆</m:t>
                    </m:r>
                    <m:r>
                      <a:rPr lang="es-AR" sz="24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={</m:t>
                    </m:r>
                    <m:r>
                      <a:rPr lang="es-AR" sz="24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𝑋𝑋</m:t>
                    </m:r>
                    <m:r>
                      <a:rPr lang="es-AR" sz="24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s-AR" sz="24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𝐶𝑋</m:t>
                    </m:r>
                    <m:r>
                      <a:rPr lang="es-AR" sz="24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s-AR" sz="24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𝑋𝐶</m:t>
                    </m:r>
                    <m:r>
                      <a:rPr lang="es-AR" sz="24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s-AR" sz="24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𝐶𝐶</m:t>
                    </m:r>
                    <m:r>
                      <a:rPr lang="es-AR" sz="24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}</m:t>
                    </m:r>
                  </m:oMath>
                </a14:m>
                <a:endParaRPr lang="es-AR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ctr">
                  <a:spcAft>
                    <a:spcPts val="600"/>
                  </a:spcAft>
                </a:pPr>
                <a:r>
                  <a:rPr lang="es-AR" sz="24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¿Cómo podemos conocer la distribución de la variable X?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9797420-77C8-E219-B5FF-4D2A54935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3046" y="1189632"/>
                <a:ext cx="8617907" cy="2693045"/>
              </a:xfrm>
              <a:prstGeom prst="rect">
                <a:avLst/>
              </a:prstGeom>
              <a:blipFill>
                <a:blip r:embed="rId2"/>
                <a:stretch>
                  <a:fillRect l="-1061" t="-1810" b="-407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3314890B-4C6D-30DE-6FF6-0BD0E4D5AB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2928180"/>
                  </p:ext>
                </p:extLst>
              </p:nvPr>
            </p:nvGraphicFramePr>
            <p:xfrm>
              <a:off x="723527" y="4065558"/>
              <a:ext cx="7696944" cy="252984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2565648">
                      <a:extLst>
                        <a:ext uri="{9D8B030D-6E8A-4147-A177-3AD203B41FA5}">
                          <a16:colId xmlns:a16="http://schemas.microsoft.com/office/drawing/2014/main" val="2062216836"/>
                        </a:ext>
                      </a:extLst>
                    </a:gridCol>
                    <a:gridCol w="2565648">
                      <a:extLst>
                        <a:ext uri="{9D8B030D-6E8A-4147-A177-3AD203B41FA5}">
                          <a16:colId xmlns:a16="http://schemas.microsoft.com/office/drawing/2014/main" val="1324877040"/>
                        </a:ext>
                      </a:extLst>
                    </a:gridCol>
                    <a:gridCol w="2565648">
                      <a:extLst>
                        <a:ext uri="{9D8B030D-6E8A-4147-A177-3AD203B41FA5}">
                          <a16:colId xmlns:a16="http://schemas.microsoft.com/office/drawing/2014/main" val="30527530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/>
                            <a:t>Elementos del Espacio Muestral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AR" sz="2400" b="1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6970745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82784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CX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0705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9863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98815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a 4">
                <a:extLst>
                  <a:ext uri="{FF2B5EF4-FFF2-40B4-BE49-F238E27FC236}">
                    <a16:creationId xmlns:a16="http://schemas.microsoft.com/office/drawing/2014/main" id="{3314890B-4C6D-30DE-6FF6-0BD0E4D5ABF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32928180"/>
                  </p:ext>
                </p:extLst>
              </p:nvPr>
            </p:nvGraphicFramePr>
            <p:xfrm>
              <a:off x="723527" y="4065558"/>
              <a:ext cx="7696944" cy="252984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2565648">
                      <a:extLst>
                        <a:ext uri="{9D8B030D-6E8A-4147-A177-3AD203B41FA5}">
                          <a16:colId xmlns:a16="http://schemas.microsoft.com/office/drawing/2014/main" val="2062216836"/>
                        </a:ext>
                      </a:extLst>
                    </a:gridCol>
                    <a:gridCol w="2565648">
                      <a:extLst>
                        <a:ext uri="{9D8B030D-6E8A-4147-A177-3AD203B41FA5}">
                          <a16:colId xmlns:a16="http://schemas.microsoft.com/office/drawing/2014/main" val="1324877040"/>
                        </a:ext>
                      </a:extLst>
                    </a:gridCol>
                    <a:gridCol w="2565648">
                      <a:extLst>
                        <a:ext uri="{9D8B030D-6E8A-4147-A177-3AD203B41FA5}">
                          <a16:colId xmlns:a16="http://schemas.microsoft.com/office/drawing/2014/main" val="305275302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/>
                            <a:t>Elementos del Espacio Muestral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b">
                        <a:blipFill>
                          <a:blip r:embed="rId3"/>
                          <a:stretch>
                            <a:fillRect l="-200475" t="-4348" r="-950" b="-28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07453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82784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CX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0705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44986386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s-A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988155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57246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7A3D2A9C-9FB8-596E-2AA0-8928EB8718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7521659"/>
                  </p:ext>
                </p:extLst>
              </p:nvPr>
            </p:nvGraphicFramePr>
            <p:xfrm>
              <a:off x="344083" y="1006475"/>
              <a:ext cx="8528859" cy="207264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2842953">
                      <a:extLst>
                        <a:ext uri="{9D8B030D-6E8A-4147-A177-3AD203B41FA5}">
                          <a16:colId xmlns:a16="http://schemas.microsoft.com/office/drawing/2014/main" val="2062216836"/>
                        </a:ext>
                      </a:extLst>
                    </a:gridCol>
                    <a:gridCol w="2377439">
                      <a:extLst>
                        <a:ext uri="{9D8B030D-6E8A-4147-A177-3AD203B41FA5}">
                          <a16:colId xmlns:a16="http://schemas.microsoft.com/office/drawing/2014/main" val="1324877040"/>
                        </a:ext>
                      </a:extLst>
                    </a:gridCol>
                    <a:gridCol w="3308467">
                      <a:extLst>
                        <a:ext uri="{9D8B030D-6E8A-4147-A177-3AD203B41FA5}">
                          <a16:colId xmlns:a16="http://schemas.microsoft.com/office/drawing/2014/main" val="30527530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/>
                            <a:t>Elementos del Espacio Muestral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AR" sz="2400" b="1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6970745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1/2=1/4</m:t>
                                </m:r>
                              </m:oMath>
                            </m:oMathPara>
                          </a14:m>
                          <a:endParaRPr lang="es-AR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82784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CX </a:t>
                          </a:r>
                          <a:r>
                            <a:rPr lang="es-AR" sz="2400" dirty="0" err="1"/>
                            <a:t>ó</a:t>
                          </a:r>
                          <a:r>
                            <a:rPr lang="es-AR" sz="2400" dirty="0"/>
                            <a:t> XC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(1/2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1/2)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0705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1/2=1/4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98815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7A3D2A9C-9FB8-596E-2AA0-8928EB87186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7521659"/>
                  </p:ext>
                </p:extLst>
              </p:nvPr>
            </p:nvGraphicFramePr>
            <p:xfrm>
              <a:off x="344083" y="1006475"/>
              <a:ext cx="8528859" cy="207264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2842953">
                      <a:extLst>
                        <a:ext uri="{9D8B030D-6E8A-4147-A177-3AD203B41FA5}">
                          <a16:colId xmlns:a16="http://schemas.microsoft.com/office/drawing/2014/main" val="2062216836"/>
                        </a:ext>
                      </a:extLst>
                    </a:gridCol>
                    <a:gridCol w="2377439">
                      <a:extLst>
                        <a:ext uri="{9D8B030D-6E8A-4147-A177-3AD203B41FA5}">
                          <a16:colId xmlns:a16="http://schemas.microsoft.com/office/drawing/2014/main" val="1324877040"/>
                        </a:ext>
                      </a:extLst>
                    </a:gridCol>
                    <a:gridCol w="3308467">
                      <a:extLst>
                        <a:ext uri="{9D8B030D-6E8A-4147-A177-3AD203B41FA5}">
                          <a16:colId xmlns:a16="http://schemas.microsoft.com/office/drawing/2014/main" val="305275302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/>
                            <a:t>Elementos del Espacio Muestral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b">
                        <a:blipFill>
                          <a:blip r:embed="rId2"/>
                          <a:stretch>
                            <a:fillRect l="-158011" t="-4348" r="-737" b="-21565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07453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2"/>
                          <a:stretch>
                            <a:fillRect l="-158011" t="-157895" r="-737" b="-226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82784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CX </a:t>
                          </a:r>
                          <a:r>
                            <a:rPr lang="es-AR" sz="2400" dirty="0" err="1"/>
                            <a:t>ó</a:t>
                          </a:r>
                          <a:r>
                            <a:rPr lang="es-AR" sz="2400" dirty="0"/>
                            <a:t> XC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2"/>
                          <a:stretch>
                            <a:fillRect l="-158011" t="-261333" r="-737" b="-1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10705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2"/>
                          <a:stretch>
                            <a:fillRect l="-158011" t="-361333" r="-737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98815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ítulo 3">
            <a:extLst>
              <a:ext uri="{FF2B5EF4-FFF2-40B4-BE49-F238E27FC236}">
                <a16:creationId xmlns:a16="http://schemas.microsoft.com/office/drawing/2014/main" id="{836084CA-B118-7530-7ADF-1D3E95CC061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Distribución de Probabilidad</a:t>
            </a: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98AF33AF-AB14-9E65-75D8-5A98773F38E9}"/>
              </a:ext>
            </a:extLst>
          </p:cNvPr>
          <p:cNvGrpSpPr/>
          <p:nvPr/>
        </p:nvGrpSpPr>
        <p:grpSpPr>
          <a:xfrm>
            <a:off x="344083" y="3795511"/>
            <a:ext cx="3013336" cy="1426929"/>
            <a:chOff x="344083" y="3795511"/>
            <a:chExt cx="3013336" cy="142692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77D318F4-BBDB-9C7B-74A8-8006500906CA}"/>
                    </a:ext>
                  </a:extLst>
                </p:cNvPr>
                <p:cNvSpPr txBox="1"/>
                <p:nvPr/>
              </p:nvSpPr>
              <p:spPr>
                <a:xfrm>
                  <a:off x="344083" y="3795511"/>
                  <a:ext cx="1849224" cy="142692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eqArr>
                                  <m:eqArrPr>
                                    <m:ctrlPr>
                                      <a:rPr lang="es-A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AR" sz="2400" b="0" i="1" smtClean="0">
                                        <a:latin typeface="Cambria Math" panose="02040503050406030204" pitchFamily="18" charset="0"/>
                                      </a:rPr>
                                      <m:t>0,25</m:t>
                                    </m:r>
                                  </m:e>
                                  <m:e>
                                    <m:r>
                                      <a:rPr lang="es-AR" sz="2400" b="0" i="1" smtClean="0">
                                        <a:latin typeface="Cambria Math" panose="02040503050406030204" pitchFamily="18" charset="0"/>
                                      </a:rPr>
                                      <m:t>0,5</m:t>
                                    </m:r>
                                  </m:e>
                                  <m:e>
                                    <m:r>
                                      <a:rPr lang="es-AR" sz="2400" b="0" i="1" smtClean="0">
                                        <a:latin typeface="Cambria Math" panose="02040503050406030204" pitchFamily="18" charset="0"/>
                                      </a:rPr>
                                      <m:t>0,25</m:t>
                                    </m:r>
                                  </m:e>
                                </m:eqArr>
                              </m:e>
                              <m:e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s-AR" sz="2400" dirty="0"/>
                </a:p>
              </p:txBody>
            </p:sp>
          </mc:Choice>
          <mc:Fallback xmlns="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77D318F4-BBDB-9C7B-74A8-8006500906C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083" y="3795511"/>
                  <a:ext cx="1849224" cy="142692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4F84F831-BA60-19DD-6A85-6F25A16DCCE3}"/>
                    </a:ext>
                  </a:extLst>
                </p:cNvPr>
                <p:cNvSpPr txBox="1"/>
                <p:nvPr/>
              </p:nvSpPr>
              <p:spPr>
                <a:xfrm>
                  <a:off x="2552006" y="3862011"/>
                  <a:ext cx="805413" cy="12849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AR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=0</m:t>
                              </m:r>
                            </m:e>
                          </m:mr>
                          <m:m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=2</m:t>
                                  </m:r>
                                </m:e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.</m:t>
                                  </m:r>
                                </m:e>
                              </m:eqArr>
                            </m:e>
                          </m:mr>
                        </m:m>
                      </m:oMath>
                    </m:oMathPara>
                  </a14:m>
                  <a:endParaRPr lang="es-AR" sz="2400" dirty="0"/>
                </a:p>
              </p:txBody>
            </p:sp>
          </mc:Choice>
          <mc:Fallback xmlns="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4F84F831-BA60-19DD-6A85-6F25A16DCCE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2006" y="3862011"/>
                  <a:ext cx="805413" cy="128490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12" name="Imagen 11">
            <a:extLst>
              <a:ext uri="{FF2B5EF4-FFF2-40B4-BE49-F238E27FC236}">
                <a16:creationId xmlns:a16="http://schemas.microsoft.com/office/drawing/2014/main" id="{4291FFD0-42CD-44E1-51FE-FD224A3AFE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8132" y="3429000"/>
            <a:ext cx="4396902" cy="3219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1956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BB9EBD90-5BB9-2C73-BFE3-691755F72AA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Función de Distribución Acumulada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C81DBDC-D9C7-434F-3C6B-7636E3C95080}"/>
                  </a:ext>
                </a:extLst>
              </p:cNvPr>
              <p:cNvSpPr txBox="1"/>
              <p:nvPr/>
            </p:nvSpPr>
            <p:spPr>
              <a:xfrm>
                <a:off x="318348" y="1369570"/>
                <a:ext cx="8580329" cy="3272163"/>
              </a:xfrm>
              <a:prstGeom prst="roundRect">
                <a:avLst>
                  <a:gd name="adj" fmla="val 13639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r>
                  <a:rPr lang="es-AR" sz="2800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La </a:t>
                </a:r>
                <a:r>
                  <a:rPr lang="es-AR" sz="2800" b="1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función de distribución acumulada, </a:t>
                </a:r>
                <a:r>
                  <a:rPr lang="es-AR" sz="2800" b="1" i="1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F</a:t>
                </a:r>
                <a:r>
                  <a:rPr lang="es-AR" sz="2800" b="1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(</a:t>
                </a:r>
                <a:r>
                  <a:rPr lang="es-AR" sz="2800" b="1" i="1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x</a:t>
                </a:r>
                <a:r>
                  <a:rPr lang="es-AR" sz="2800" b="1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), </a:t>
                </a:r>
                <a:r>
                  <a:rPr lang="es-AR" sz="2800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de una variable aleatoria discreta </a:t>
                </a:r>
                <a:r>
                  <a:rPr lang="es-AR" sz="2800" i="1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X es una función que nos </a:t>
                </a:r>
                <a:r>
                  <a:rPr lang="es-AR" sz="2800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da, para un valor dado </a:t>
                </a:r>
                <a:r>
                  <a:rPr lang="es-AR" sz="2800" i="1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x</a:t>
                </a:r>
                <a:r>
                  <a:rPr lang="es-AR" sz="2800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, </a:t>
                </a:r>
                <a:r>
                  <a:rPr lang="es-AR" sz="2800" b="1" kern="1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  <a:cs typeface="Calibri" panose="020F0502020204030204" pitchFamily="34" charset="0"/>
                  </a:rPr>
                  <a:t>la probabilidad de que X tome un valor menor o igual a x.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i="1" kern="0" dirty="0" smtClean="0">
                          <a:solidFill>
                            <a:srgbClr val="262524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𝐹</m:t>
                      </m:r>
                      <m:d>
                        <m:dPr>
                          <m:ctrlPr>
                            <a:rPr lang="fr-FR" sz="2400" i="1" kern="0" dirty="0" smtClean="0">
                              <a:solidFill>
                                <a:srgbClr val="262524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sz="2400" i="1" kern="0" dirty="0" smtClean="0">
                              <a:solidFill>
                                <a:srgbClr val="262524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400" i="1" kern="0" dirty="0" smtClean="0">
                          <a:solidFill>
                            <a:srgbClr val="262524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r>
                        <a:rPr lang="fr-FR" sz="2400" i="1" kern="0" dirty="0" smtClean="0">
                          <a:solidFill>
                            <a:srgbClr val="262524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𝑃</m:t>
                      </m:r>
                      <m:d>
                        <m:dPr>
                          <m:ctrlPr>
                            <a:rPr lang="fr-FR" sz="2400" i="1" kern="0" dirty="0" smtClean="0">
                              <a:solidFill>
                                <a:srgbClr val="262524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fr-FR" sz="2400" i="1" kern="0" dirty="0" smtClean="0">
                              <a:solidFill>
                                <a:srgbClr val="262524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𝑋</m:t>
                          </m:r>
                          <m:r>
                            <a:rPr lang="fr-FR" sz="2400" i="1" kern="0" dirty="0" smtClean="0">
                              <a:solidFill>
                                <a:srgbClr val="262524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≤</m:t>
                          </m:r>
                          <m:r>
                            <a:rPr lang="fr-FR" sz="2400" i="1" kern="0" dirty="0" smtClean="0">
                              <a:solidFill>
                                <a:srgbClr val="262524"/>
                              </a:solidFill>
                              <a:effectLst/>
                              <a:latin typeface="Cambria Math" panose="02040503050406030204" pitchFamily="18" charset="0"/>
                              <a:ea typeface="Times New Roman" panose="02020603050405020304" pitchFamily="18" charset="0"/>
                            </a:rPr>
                            <m:t>𝑥</m:t>
                          </m:r>
                        </m:e>
                      </m:d>
                      <m:r>
                        <a:rPr lang="fr-FR" sz="2400" i="1" kern="0" dirty="0" smtClean="0">
                          <a:solidFill>
                            <a:srgbClr val="262524"/>
                          </a:solidFill>
                          <a:effectLst/>
                          <a:latin typeface="Cambria Math" panose="02040503050406030204" pitchFamily="18" charset="0"/>
                          <a:ea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fr-FR" sz="2400" i="1" kern="0" dirty="0" smtClean="0">
                              <a:solidFill>
                                <a:srgbClr val="262524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fr-FR" sz="2400" i="1" kern="0" dirty="0" smtClean="0">
                                  <a:solidFill>
                                    <a:srgbClr val="262524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s-AR" sz="2400" b="0" i="1" kern="0" dirty="0" smtClean="0">
                                  <a:solidFill>
                                    <a:srgbClr val="262524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400" b="0" i="1" kern="0" dirty="0" smtClean="0">
                                  <a:solidFill>
                                    <a:srgbClr val="262524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m:rPr>
                              <m:brk m:alnAt="7"/>
                            </m:rPr>
                            <a:rPr lang="fr-FR" sz="2400" i="1" kern="0" dirty="0" smtClean="0">
                              <a:solidFill>
                                <a:srgbClr val="262524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≤</m:t>
                          </m:r>
                          <m:r>
                            <a:rPr lang="es-AR" sz="2400" b="0" i="1" kern="0" dirty="0" smtClean="0">
                              <a:solidFill>
                                <a:srgbClr val="262524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sub>
                        <m:sup/>
                        <m:e>
                          <m:r>
                            <a:rPr lang="es-AR" sz="2400" b="0" i="1" kern="0" dirty="0" smtClean="0">
                              <a:solidFill>
                                <a:srgbClr val="262524"/>
                              </a:solidFill>
                              <a:effectLst/>
                              <a:latin typeface="Cambria Math" panose="02040503050406030204" pitchFamily="18" charset="0"/>
                            </a:rPr>
                            <m:t>𝑝</m:t>
                          </m:r>
                          <m:d>
                            <m:dPr>
                              <m:ctrlPr>
                                <a:rPr lang="es-AR" sz="2400" b="0" i="1" kern="0" dirty="0" smtClean="0">
                                  <a:solidFill>
                                    <a:srgbClr val="262524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s-AR" sz="2400" b="0" i="1" kern="0" dirty="0" smtClean="0">
                                  <a:solidFill>
                                    <a:srgbClr val="262524"/>
                                  </a:solidFill>
                                  <a:effectLst/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s-AR" sz="4000" kern="100" dirty="0">
                  <a:effectLst/>
                  <a:latin typeface="Calibri" panose="020F0502020204030204" pitchFamily="34" charset="0"/>
                  <a:ea typeface="Aptos" panose="020B0004020202020204" pitchFamily="34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s-AR" sz="1800" b="0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𝑝𝑎𝑟𝑎</m:t>
                      </m:r>
                      <m:r>
                        <a:rPr lang="es-AR" sz="1800" b="0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−∞ &lt; </m:t>
                      </m:r>
                      <m:r>
                        <a:rPr lang="es-AR" sz="1800" b="0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𝑥</m:t>
                      </m:r>
                      <m:r>
                        <a:rPr lang="es-AR" sz="1800" b="0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&lt; ∞.</m:t>
                      </m:r>
                    </m:oMath>
                  </m:oMathPara>
                </a14:m>
                <a:endParaRPr lang="es-AR" sz="4000" kern="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3C81DBDC-D9C7-434F-3C6B-7636E3C95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348" y="1369570"/>
                <a:ext cx="8580329" cy="3272163"/>
              </a:xfrm>
              <a:prstGeom prst="roundRect">
                <a:avLst>
                  <a:gd name="adj" fmla="val 13639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CuadroTexto 8">
            <a:extLst>
              <a:ext uri="{FF2B5EF4-FFF2-40B4-BE49-F238E27FC236}">
                <a16:creationId xmlns:a16="http://schemas.microsoft.com/office/drawing/2014/main" id="{EE8CEBD9-F48C-8A78-57DC-7D7F94FBE025}"/>
              </a:ext>
            </a:extLst>
          </p:cNvPr>
          <p:cNvSpPr txBox="1"/>
          <p:nvPr/>
        </p:nvSpPr>
        <p:spPr>
          <a:xfrm>
            <a:off x="550079" y="4923009"/>
            <a:ext cx="8116866" cy="12772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s-AR" sz="24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 FDA es una función no decreciente que varía entre 0 y 1 </a:t>
            </a:r>
          </a:p>
          <a:p>
            <a:pPr marL="342900" indent="-342900" algn="l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s-AR" sz="2400" b="0" i="0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Describe cómo se acumulan las probabilidades a lo largo del rango de valores de la variable aleatoria.</a:t>
            </a:r>
            <a:endParaRPr lang="es-A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8125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0D87AE5F-A572-CB89-41D5-3DA71E3D2B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3610827"/>
                  </p:ext>
                </p:extLst>
              </p:nvPr>
            </p:nvGraphicFramePr>
            <p:xfrm>
              <a:off x="307570" y="1056579"/>
              <a:ext cx="8528860" cy="268224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471126">
                      <a:extLst>
                        <a:ext uri="{9D8B030D-6E8A-4147-A177-3AD203B41FA5}">
                          <a16:colId xmlns:a16="http://schemas.microsoft.com/office/drawing/2014/main" val="2062216836"/>
                        </a:ext>
                      </a:extLst>
                    </a:gridCol>
                    <a:gridCol w="872406">
                      <a:extLst>
                        <a:ext uri="{9D8B030D-6E8A-4147-A177-3AD203B41FA5}">
                          <a16:colId xmlns:a16="http://schemas.microsoft.com/office/drawing/2014/main" val="1324877040"/>
                        </a:ext>
                      </a:extLst>
                    </a:gridCol>
                    <a:gridCol w="3211079">
                      <a:extLst>
                        <a:ext uri="{9D8B030D-6E8A-4147-A177-3AD203B41FA5}">
                          <a16:colId xmlns:a16="http://schemas.microsoft.com/office/drawing/2014/main" val="3052753022"/>
                        </a:ext>
                      </a:extLst>
                    </a:gridCol>
                    <a:gridCol w="2974249">
                      <a:extLst>
                        <a:ext uri="{9D8B030D-6E8A-4147-A177-3AD203B41FA5}">
                          <a16:colId xmlns:a16="http://schemas.microsoft.com/office/drawing/2014/main" val="2763603921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/>
                            <a:t>Elementos del Espacio Muestral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𝒑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AR" sz="2400" b="1" dirty="0"/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𝑭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𝑷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𝑿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≤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𝒙</m:t>
                                </m:r>
                                <m:r>
                                  <a:rPr lang="es-AR" sz="2400" b="1" i="1" dirty="0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s-AR" sz="2400" b="1" dirty="0"/>
                        </a:p>
                      </a:txBody>
                      <a:tcPr anchor="b"/>
                    </a:tc>
                    <a:extLst>
                      <a:ext uri="{0D108BD9-81ED-4DB2-BD59-A6C34878D82A}">
                        <a16:rowId xmlns:a16="http://schemas.microsoft.com/office/drawing/2014/main" val="369707453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1/2=1/4</m:t>
                                </m:r>
                              </m:oMath>
                            </m:oMathPara>
                          </a14:m>
                          <a:endParaRPr lang="es-AR" sz="24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1/4</m:t>
                                </m:r>
                              </m:oMath>
                            </m:oMathPara>
                          </a14:m>
                          <a:endParaRPr lang="es-AR" sz="2400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67827840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CX ó XC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(1/2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1/2)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×2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/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3/4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310705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1/2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1/2=1/4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s-AR" sz="24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298815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a 1">
                <a:extLst>
                  <a:ext uri="{FF2B5EF4-FFF2-40B4-BE49-F238E27FC236}">
                    <a16:creationId xmlns:a16="http://schemas.microsoft.com/office/drawing/2014/main" id="{0D87AE5F-A572-CB89-41D5-3DA71E3D2B4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3610827"/>
                  </p:ext>
                </p:extLst>
              </p:nvPr>
            </p:nvGraphicFramePr>
            <p:xfrm>
              <a:off x="307570" y="1056579"/>
              <a:ext cx="8528860" cy="2682240"/>
            </p:xfrm>
            <a:graphic>
              <a:graphicData uri="http://schemas.openxmlformats.org/drawingml/2006/table">
                <a:tbl>
                  <a:tblPr firstRow="1" bandRow="1">
                    <a:tableStyleId>{7DF18680-E054-41AD-8BC1-D1AEF772440D}</a:tableStyleId>
                  </a:tblPr>
                  <a:tblGrid>
                    <a:gridCol w="1471126">
                      <a:extLst>
                        <a:ext uri="{9D8B030D-6E8A-4147-A177-3AD203B41FA5}">
                          <a16:colId xmlns:a16="http://schemas.microsoft.com/office/drawing/2014/main" val="2062216836"/>
                        </a:ext>
                      </a:extLst>
                    </a:gridCol>
                    <a:gridCol w="872406">
                      <a:extLst>
                        <a:ext uri="{9D8B030D-6E8A-4147-A177-3AD203B41FA5}">
                          <a16:colId xmlns:a16="http://schemas.microsoft.com/office/drawing/2014/main" val="1324877040"/>
                        </a:ext>
                      </a:extLst>
                    </a:gridCol>
                    <a:gridCol w="3211079">
                      <a:extLst>
                        <a:ext uri="{9D8B030D-6E8A-4147-A177-3AD203B41FA5}">
                          <a16:colId xmlns:a16="http://schemas.microsoft.com/office/drawing/2014/main" val="3052753022"/>
                        </a:ext>
                      </a:extLst>
                    </a:gridCol>
                    <a:gridCol w="2974249">
                      <a:extLst>
                        <a:ext uri="{9D8B030D-6E8A-4147-A177-3AD203B41FA5}">
                          <a16:colId xmlns:a16="http://schemas.microsoft.com/office/drawing/2014/main" val="2763603921"/>
                        </a:ext>
                      </a:extLst>
                    </a:gridCol>
                  </a:tblGrid>
                  <a:tr h="13106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000" dirty="0"/>
                            <a:t>Elementos del Espacio Muestral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</a:t>
                          </a:r>
                        </a:p>
                      </a:txBody>
                      <a:tcPr anchor="b"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b">
                        <a:blipFill>
                          <a:blip r:embed="rId2"/>
                          <a:stretch>
                            <a:fillRect l="-73245" t="-2326" r="-93359" b="-1153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 anchor="b">
                        <a:blipFill>
                          <a:blip r:embed="rId2"/>
                          <a:stretch>
                            <a:fillRect l="-187090" t="-2326" r="-820" b="-11534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97074539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XX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2"/>
                          <a:stretch>
                            <a:fillRect l="-73245" t="-289474" r="-93359" b="-22631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2"/>
                          <a:stretch>
                            <a:fillRect l="-187090" t="-289474" r="-820" b="-22631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7827840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CX ó XC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2"/>
                          <a:stretch>
                            <a:fillRect l="-73245" t="-394667" r="-93359" b="-1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2"/>
                          <a:stretch>
                            <a:fillRect l="-187090" t="-394667" r="-820" b="-1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1070587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CC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s-AR" sz="24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2"/>
                          <a:stretch>
                            <a:fillRect l="-73245" t="-494667" r="-93359" b="-293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s-AR"/>
                        </a:p>
                      </a:txBody>
                      <a:tcPr>
                        <a:blipFill>
                          <a:blip r:embed="rId2"/>
                          <a:stretch>
                            <a:fillRect l="-187090" t="-494667" r="-820" b="-293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98815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ítulo 3">
            <a:extLst>
              <a:ext uri="{FF2B5EF4-FFF2-40B4-BE49-F238E27FC236}">
                <a16:creationId xmlns:a16="http://schemas.microsoft.com/office/drawing/2014/main" id="{B5F5FB16-0520-C8C1-D2F9-79D15844FEE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Función de Distribución Acumulada</a:t>
            </a:r>
          </a:p>
        </p:txBody>
      </p:sp>
      <p:grpSp>
        <p:nvGrpSpPr>
          <p:cNvPr id="4" name="Grupo 3">
            <a:extLst>
              <a:ext uri="{FF2B5EF4-FFF2-40B4-BE49-F238E27FC236}">
                <a16:creationId xmlns:a16="http://schemas.microsoft.com/office/drawing/2014/main" id="{5B834BB1-348D-28E8-799E-55C30CDB6111}"/>
              </a:ext>
            </a:extLst>
          </p:cNvPr>
          <p:cNvGrpSpPr/>
          <p:nvPr/>
        </p:nvGrpSpPr>
        <p:grpSpPr>
          <a:xfrm>
            <a:off x="307570" y="4547072"/>
            <a:ext cx="3586634" cy="1417055"/>
            <a:chOff x="344083" y="3795511"/>
            <a:chExt cx="3586634" cy="14170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21E53389-79DE-AF4F-4B9E-ADBF0838B2DC}"/>
                    </a:ext>
                  </a:extLst>
                </p:cNvPr>
                <p:cNvSpPr txBox="1"/>
                <p:nvPr/>
              </p:nvSpPr>
              <p:spPr>
                <a:xfrm>
                  <a:off x="344083" y="3795511"/>
                  <a:ext cx="1873526" cy="1417055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d>
                          <m:dPr>
                            <m:ctrlP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d>
                          <m:dPr>
                            <m:begChr m:val="{"/>
                            <m:endChr m:val=""/>
                            <m:ctrlPr>
                              <a:rPr lang="es-A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eqArr>
                              <m:eqArrPr>
                                <m:ctrlP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eqArrPr>
                              <m:e>
                                <m:eqArr>
                                  <m:eqArrPr>
                                    <m:ctrlPr>
                                      <a:rPr lang="es-AR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eqArrPr>
                                  <m:e>
                                    <m:r>
                                      <a:rPr lang="es-AR" sz="24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e>
                                  <m:e>
                                    <m:r>
                                      <a:rPr lang="es-AR" sz="2400" b="0" i="1" smtClean="0">
                                        <a:latin typeface="Cambria Math" panose="02040503050406030204" pitchFamily="18" charset="0"/>
                                      </a:rPr>
                                      <m:t>0,25</m:t>
                                    </m:r>
                                  </m:e>
                                  <m:e>
                                    <m:r>
                                      <a:rPr lang="es-AR" sz="2400" b="0" i="1" smtClean="0">
                                        <a:latin typeface="Cambria Math" panose="02040503050406030204" pitchFamily="18" charset="0"/>
                                      </a:rPr>
                                      <m:t>0,75</m:t>
                                    </m:r>
                                  </m:e>
                                </m:eqArr>
                              </m:e>
                              <m:e>
                                <m:r>
                                  <a:rPr lang="es-AR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eqArr>
                          </m:e>
                        </m:d>
                      </m:oMath>
                    </m:oMathPara>
                  </a14:m>
                  <a:endParaRPr lang="es-AR" sz="2400" dirty="0"/>
                </a:p>
              </p:txBody>
            </p:sp>
          </mc:Choice>
          <mc:Fallback xmlns="">
            <p:sp>
              <p:nvSpPr>
                <p:cNvPr id="5" name="CuadroTexto 4">
                  <a:extLst>
                    <a:ext uri="{FF2B5EF4-FFF2-40B4-BE49-F238E27FC236}">
                      <a16:creationId xmlns:a16="http://schemas.microsoft.com/office/drawing/2014/main" id="{21E53389-79DE-AF4F-4B9E-ADBF0838B2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4083" y="3795511"/>
                  <a:ext cx="1873526" cy="141705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00402D12-F375-6713-2789-CA24581E72AA}"/>
                    </a:ext>
                  </a:extLst>
                </p:cNvPr>
                <p:cNvSpPr txBox="1"/>
                <p:nvPr/>
              </p:nvSpPr>
              <p:spPr>
                <a:xfrm>
                  <a:off x="2552006" y="3862011"/>
                  <a:ext cx="1378711" cy="1312988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m>
                          <m:mPr>
                            <m:mcs>
                              <m:mc>
                                <m:mcPr>
                                  <m:count m:val="1"/>
                                  <m:mcJc m:val="center"/>
                                </m:mcPr>
                              </m:mc>
                            </m:mcs>
                            <m:ctrlPr>
                              <a:rPr lang="es-AR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s-AR" sz="2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AR" sz="2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s-AR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  <m:mr>
                            <m:e>
                              <m:eqArr>
                                <m:eqArrPr>
                                  <m:ctrlP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s-AR" sz="2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&lt;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  <m:e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≤</m:t>
                                  </m:r>
                                  <m:r>
                                    <a:rPr lang="es-AR" sz="2400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eqArr>
                            </m:e>
                          </m:mr>
                        </m:m>
                      </m:oMath>
                    </m:oMathPara>
                  </a14:m>
                  <a:endParaRPr lang="es-AR" sz="2400" dirty="0"/>
                </a:p>
              </p:txBody>
            </p:sp>
          </mc:Choice>
          <mc:Fallback xmlns="">
            <p:sp>
              <p:nvSpPr>
                <p:cNvPr id="6" name="CuadroTexto 5">
                  <a:extLst>
                    <a:ext uri="{FF2B5EF4-FFF2-40B4-BE49-F238E27FC236}">
                      <a16:creationId xmlns:a16="http://schemas.microsoft.com/office/drawing/2014/main" id="{00402D12-F375-6713-2789-CA24581E72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52006" y="3862011"/>
                  <a:ext cx="1378711" cy="1312988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8" name="Imagen 7">
            <a:extLst>
              <a:ext uri="{FF2B5EF4-FFF2-40B4-BE49-F238E27FC236}">
                <a16:creationId xmlns:a16="http://schemas.microsoft.com/office/drawing/2014/main" id="{DA817691-B29B-DC64-561E-9E7F9FF7A1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852153"/>
            <a:ext cx="3968885" cy="3005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2798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CD973AE-1AFC-91B0-A151-E2F47D9EE4F7}"/>
                  </a:ext>
                </a:extLst>
              </p:cNvPr>
              <p:cNvSpPr txBox="1"/>
              <p:nvPr/>
            </p:nvSpPr>
            <p:spPr>
              <a:xfrm>
                <a:off x="247389" y="1450538"/>
                <a:ext cx="8649221" cy="4401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200"/>
                  </a:spcAft>
                </a:pPr>
                <a:r>
                  <a:rPr lang="es-AR" sz="2400" b="1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EJEMPLO:</a:t>
                </a:r>
              </a:p>
              <a:p>
                <a:pPr algn="l">
                  <a:spcAft>
                    <a:spcPts val="1200"/>
                  </a:spcAft>
                </a:pPr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Supongan que </a:t>
                </a:r>
                <a14:m>
                  <m:oMath xmlns:m="http://schemas.openxmlformats.org/officeDocument/2006/math"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= número de equipos examinados hasta encontrar el primer equipo defectuoso, X puede asumir valores en </a:t>
                </a:r>
                <a14:m>
                  <m:oMath xmlns:m="http://schemas.openxmlformats.org/officeDocument/2006/math"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{1, 2, . . . }</m:t>
                    </m:r>
                  </m:oMath>
                </a14:m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Además, se sabe que la probabilidad de que un equipo sea defectuoso es 0,01 y que los equipos son independientes entre sí.</a:t>
                </a:r>
              </a:p>
              <a:p>
                <a:pPr algn="l">
                  <a:spcAft>
                    <a:spcPts val="1200"/>
                  </a:spcAft>
                </a:pPr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Entonces:</a:t>
                </a:r>
              </a:p>
              <a:p>
                <a:pPr marL="514350" indent="-514350" algn="l">
                  <a:spcAft>
                    <a:spcPts val="1200"/>
                  </a:spcAft>
                  <a:buFont typeface="+mj-lt"/>
                  <a:buAutoNum type="romanUcPeriod"/>
                </a:pPr>
                <a:r>
                  <a:rPr lang="es-A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¿</a:t>
                </a:r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Cuál será la probabilidad de examinar menos de tres equipos hasta encontrar el primer artículo defectuoso?</a:t>
                </a:r>
              </a:p>
              <a:p>
                <a:pPr marL="514350" indent="-514350" algn="l">
                  <a:spcAft>
                    <a:spcPts val="1200"/>
                  </a:spcAft>
                  <a:buFont typeface="+mj-lt"/>
                  <a:buAutoNum type="romanUcPeriod"/>
                </a:pPr>
                <a:r>
                  <a:rPr lang="es-A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¿</a:t>
                </a:r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Cuál será la probabilidad de examinar más de dos equipos hasta encontrar uno defectuoso?</a:t>
                </a:r>
                <a:endParaRPr lang="es-AR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9CD973AE-1AFC-91B0-A151-E2F47D9EE4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389" y="1450538"/>
                <a:ext cx="8649221" cy="4401205"/>
              </a:xfrm>
              <a:prstGeom prst="rect">
                <a:avLst/>
              </a:prstGeom>
              <a:blipFill>
                <a:blip r:embed="rId2"/>
                <a:stretch>
                  <a:fillRect l="-1128" t="-1108" b="-2216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3">
            <a:extLst>
              <a:ext uri="{FF2B5EF4-FFF2-40B4-BE49-F238E27FC236}">
                <a16:creationId xmlns:a16="http://schemas.microsoft.com/office/drawing/2014/main" id="{9A593566-B0B5-53C4-FD3B-1D1DBABA57A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Aleatorias Discretas</a:t>
            </a:r>
          </a:p>
        </p:txBody>
      </p:sp>
    </p:spTree>
    <p:extLst>
      <p:ext uri="{BB962C8B-B14F-4D97-AF65-F5344CB8AC3E}">
        <p14:creationId xmlns:p14="http://schemas.microsoft.com/office/powerpoint/2010/main" val="3167908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E1150EDF-28C8-6E0B-FD68-5A7CC3997E64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Aleatorias Discretas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DCE1B909-BFBD-AFC1-0008-FA16140F84E7}"/>
              </a:ext>
            </a:extLst>
          </p:cNvPr>
          <p:cNvSpPr txBox="1"/>
          <p:nvPr/>
        </p:nvSpPr>
        <p:spPr>
          <a:xfrm>
            <a:off x="225468" y="1227210"/>
            <a:ext cx="8680537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s-AR" sz="2400" b="0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 trabajar en clases...(Ejercicio 27)</a:t>
            </a:r>
          </a:p>
          <a:p>
            <a:pPr algn="l">
              <a:spcAft>
                <a:spcPts val="600"/>
              </a:spcAft>
            </a:pPr>
            <a:r>
              <a:rPr lang="es-AR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Supongan que una variable aleatoria discreta X toma todos los valores enteros entre 0 y 4 con la siguiente función de distribución de probabilidad:</a:t>
            </a:r>
            <a:endParaRPr lang="es-A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2816E0C-E7E2-E8F6-674C-4DBB9EACFA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225818"/>
              </p:ext>
            </p:extLst>
          </p:nvPr>
        </p:nvGraphicFramePr>
        <p:xfrm>
          <a:off x="1003125" y="3294439"/>
          <a:ext cx="677449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494">
                  <a:extLst>
                    <a:ext uri="{9D8B030D-6E8A-4147-A177-3AD203B41FA5}">
                      <a16:colId xmlns:a16="http://schemas.microsoft.com/office/drawing/2014/main" val="393304284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42794701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053879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7432461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54612405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38167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81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P(X=x)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0,3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0,25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s-AR" sz="2400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0,1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0,1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108805"/>
                  </a:ext>
                </a:extLst>
              </a:tr>
            </a:tbl>
          </a:graphicData>
        </a:graphic>
      </p:graphicFrame>
      <p:sp>
        <p:nvSpPr>
          <p:cNvPr id="7" name="CuadroTexto 6">
            <a:extLst>
              <a:ext uri="{FF2B5EF4-FFF2-40B4-BE49-F238E27FC236}">
                <a16:creationId xmlns:a16="http://schemas.microsoft.com/office/drawing/2014/main" id="{B2784B48-25BB-B0C4-C850-47BB18E2E557}"/>
              </a:ext>
            </a:extLst>
          </p:cNvPr>
          <p:cNvSpPr txBox="1"/>
          <p:nvPr/>
        </p:nvSpPr>
        <p:spPr>
          <a:xfrm>
            <a:off x="225469" y="4988233"/>
            <a:ext cx="8680536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s-AR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a) Complete la tabla.</a:t>
            </a:r>
          </a:p>
          <a:p>
            <a:pPr algn="l">
              <a:spcAft>
                <a:spcPts val="600"/>
              </a:spcAft>
            </a:pPr>
            <a:r>
              <a:rPr lang="es-AR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b) Calcular y graficar la Función de Distribución Acumulada (FDA)</a:t>
            </a:r>
          </a:p>
        </p:txBody>
      </p:sp>
    </p:spTree>
    <p:extLst>
      <p:ext uri="{BB962C8B-B14F-4D97-AF65-F5344CB8AC3E}">
        <p14:creationId xmlns:p14="http://schemas.microsoft.com/office/powerpoint/2010/main" val="1589023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B8FA6011-A129-C966-6E53-6D4098B5E6F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Esperanza de una </a:t>
            </a:r>
            <a:r>
              <a:rPr lang="es-AR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v.a.</a:t>
            </a: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Discreta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A566DA6-197F-3532-6FE9-99ED6545E59F}"/>
                  </a:ext>
                </a:extLst>
              </p:cNvPr>
              <p:cNvSpPr txBox="1"/>
              <p:nvPr/>
            </p:nvSpPr>
            <p:spPr>
              <a:xfrm>
                <a:off x="230666" y="1303897"/>
                <a:ext cx="8825652" cy="3194126"/>
              </a:xfrm>
              <a:prstGeom prst="roundRect">
                <a:avLst>
                  <a:gd name="adj" fmla="val 1447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87313" algn="l">
                  <a:spcBef>
                    <a:spcPts val="1200"/>
                  </a:spcBef>
                </a:pP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 </a:t>
                </a:r>
                <a:r>
                  <a:rPr lang="es-AR" sz="2800" b="0" i="1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X una variable aleatoria </a:t>
                </a: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discreta con un conjunto de valores posibles y una función de probabilidad </a:t>
                </a: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𝑝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𝑥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marL="87313" algn="l">
                  <a:spcAft>
                    <a:spcPts val="600"/>
                  </a:spcAft>
                </a:pP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La </a:t>
                </a:r>
                <a:r>
                  <a:rPr lang="es-AR" sz="2800" b="1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esperanza o valor esperado </a:t>
                </a:r>
                <a:r>
                  <a:rPr lang="pt-B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 X, denotado </a:t>
                </a:r>
                <a14:m>
                  <m:oMath xmlns:m="http://schemas.openxmlformats.org/officeDocument/2006/math">
                    <m:r>
                      <a:rPr lang="pt-BR" sz="2800" b="1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𝑬</m:t>
                    </m:r>
                    <m:d>
                      <m:dPr>
                        <m:ctrlPr>
                          <a:rPr lang="pt-BR" sz="2800" b="1" i="1" u="none" strike="noStrike" baseline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pt-BR" sz="2800" b="1" i="1" u="none" strike="noStrike" baseline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𝑿</m:t>
                        </m:r>
                      </m:e>
                    </m:d>
                    <m:r>
                      <a:rPr lang="es-AR" sz="2800" b="1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r>
                      <a:rPr lang="pt-BR" sz="2800" b="1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sSub>
                      <m:sSubPr>
                        <m:ctrlPr>
                          <a:rPr lang="pt-BR" sz="2800" b="1" i="1" u="none" strike="noStrike" baseline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pt-BR" sz="2800" b="1" i="1" u="none" strike="noStrike" baseline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𝝁</m:t>
                        </m:r>
                      </m:e>
                      <m:sub>
                        <m:r>
                          <a:rPr lang="es-AR" sz="2800" b="1" i="1" u="none" strike="noStrike" baseline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𝑿</m:t>
                        </m:r>
                      </m:sub>
                    </m:sSub>
                    <m:r>
                      <a:rPr lang="pt-BR" sz="2800" b="1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es-AR" sz="2800" b="1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ó</m:t>
                    </m:r>
                    <m:r>
                      <a:rPr lang="pt-BR" sz="2800" b="1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pt-BR" sz="2800" b="1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𝝁</m:t>
                    </m:r>
                  </m:oMath>
                </a14:m>
                <a:r>
                  <a:rPr lang="pt-B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es</a:t>
                </a:r>
              </a:p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u="none" strike="noStrike" baseline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𝐸</m:t>
                      </m:r>
                      <m:d>
                        <m:dPr>
                          <m:ctrlP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</m:e>
                      </m:d>
                      <m:r>
                        <a:rPr lang="es-AR" sz="2800" b="0" i="1" u="none" strike="noStrike" baseline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</m:sub>
                      </m:sSub>
                      <m:r>
                        <a:rPr lang="es-AR" sz="2800" b="0" i="1" u="none" strike="noStrike" baseline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s-AR" sz="2800" b="0" i="1" u="none" strike="noStrike" baseline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AR" sz="2800" b="0" i="1" u="none" strike="noStrike" baseline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800" b="0" i="1" u="none" strike="noStrike" baseline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  <m: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AR" sz="2800" b="0" i="1" u="none" strike="noStrike" baseline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AR" sz="2800" b="0" i="1" u="none" strike="noStrike" baseline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800" b="0" i="1" u="none" strike="noStrike" baseline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pt-BR" sz="2800" b="0" i="0" u="none" strike="noStrike" baseline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4A566DA6-197F-3532-6FE9-99ED6545E5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666" y="1303897"/>
                <a:ext cx="8825652" cy="3194126"/>
              </a:xfrm>
              <a:prstGeom prst="roundRect">
                <a:avLst>
                  <a:gd name="adj" fmla="val 14470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CuadroTexto 5">
            <a:extLst>
              <a:ext uri="{FF2B5EF4-FFF2-40B4-BE49-F238E27FC236}">
                <a16:creationId xmlns:a16="http://schemas.microsoft.com/office/drawing/2014/main" id="{F94B8A63-8674-9938-B7B2-C58BB13BFC8A}"/>
              </a:ext>
            </a:extLst>
          </p:cNvPr>
          <p:cNvSpPr txBox="1"/>
          <p:nvPr/>
        </p:nvSpPr>
        <p:spPr>
          <a:xfrm>
            <a:off x="293296" y="4692642"/>
            <a:ext cx="8700392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s-AR" sz="2400" kern="0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Intuitivamente, representa </a:t>
            </a:r>
            <a:r>
              <a:rPr lang="es-AR" sz="24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un promedio de los valores asumidos por la variable, donde cada valor es ponderado por su probabilidad de ocurrencia</a:t>
            </a:r>
          </a:p>
          <a:p>
            <a:pPr marL="342900" indent="-342900">
              <a:spcAft>
                <a:spcPts val="600"/>
              </a:spcAft>
              <a:buFont typeface="Wingdings" panose="05000000000000000000" pitchFamily="2" charset="2"/>
              <a:buChar char="ü"/>
            </a:pPr>
            <a:r>
              <a:rPr lang="es-AR" sz="24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El valor esperado, formaliza la idea de </a:t>
            </a:r>
            <a:r>
              <a:rPr lang="es-AR" sz="2400" b="1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valor medio de un fenómeno aleatorio</a:t>
            </a:r>
            <a:r>
              <a:rPr lang="es-AR" sz="2400" kern="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16727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F629AB79-4426-3535-1E03-6F49908E8C8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Varianza de una </a:t>
            </a:r>
            <a:r>
              <a:rPr lang="es-AR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v.a.</a:t>
            </a: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Discreta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536911A-A7E0-132A-5CEE-FC62D9196E8B}"/>
                  </a:ext>
                </a:extLst>
              </p:cNvPr>
              <p:cNvSpPr txBox="1"/>
              <p:nvPr/>
            </p:nvSpPr>
            <p:spPr>
              <a:xfrm>
                <a:off x="253120" y="1150558"/>
                <a:ext cx="8637760" cy="3351163"/>
              </a:xfrm>
              <a:prstGeom prst="roundRect">
                <a:avLst>
                  <a:gd name="adj" fmla="val 12161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174625" algn="l">
                  <a:spcAft>
                    <a:spcPts val="600"/>
                  </a:spcAft>
                </a:pP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La </a:t>
                </a:r>
                <a:r>
                  <a:rPr lang="es-AR" sz="2800" b="1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varianza</a:t>
                </a: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de una variable aleatoria discreta </a:t>
                </a: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denotada como </a:t>
                </a:r>
                <a14:m>
                  <m:oMath xmlns:m="http://schemas.openxmlformats.org/officeDocument/2006/math">
                    <m:r>
                      <a:rPr lang="es-AR" sz="2800" b="1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𝑽𝒂𝒓</m:t>
                    </m:r>
                    <m:d>
                      <m:dPr>
                        <m:ctrlPr>
                          <a:rPr lang="es-AR" sz="2800" b="1" i="1" u="none" strike="noStrike" baseline="0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s-AR" sz="2800" b="1" i="1" u="none" strike="noStrike" baseline="0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𝑿</m:t>
                        </m:r>
                      </m:e>
                    </m:d>
                    <m:r>
                      <a:rPr lang="es-AR" sz="2800" b="1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</m:t>
                    </m:r>
                    <m:sSubSup>
                      <m:sSubSupPr>
                        <m:ctrlPr>
                          <a:rPr lang="es-AR" sz="2800" b="1" i="1" u="none" strike="noStrike" baseline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SupPr>
                      <m:e>
                        <m:r>
                          <a:rPr lang="es-AR" sz="2800" b="1" i="1" u="none" strike="noStrike" baseline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𝝈</m:t>
                        </m:r>
                      </m:e>
                      <m:sub>
                        <m:r>
                          <a:rPr lang="es-AR" sz="2800" b="1" i="1" u="none" strike="noStrike" baseline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𝑿</m:t>
                        </m:r>
                      </m:sub>
                      <m:sup>
                        <m:r>
                          <a:rPr lang="es-AR" sz="2800" b="1" i="1" u="none" strike="noStrike" baseline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p>
                    </m:sSubSup>
                    <m:r>
                      <a:rPr lang="es-AR" sz="2800" b="1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ó </m:t>
                    </m:r>
                    <m:sSup>
                      <m:sSupPr>
                        <m:ctrlPr>
                          <a:rPr lang="es-AR" sz="2800" b="1" i="1" u="none" strike="noStrike" baseline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pPr>
                      <m:e>
                        <m:r>
                          <a:rPr lang="es-AR" sz="2800" b="1" i="1" u="none" strike="noStrike" baseline="0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𝝈</m:t>
                        </m:r>
                      </m:e>
                      <m:sup>
                        <m:r>
                          <a:rPr lang="es-AR" sz="2800" b="1" i="1" u="none" strike="noStrike" baseline="0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se define como el valor esperado del cuadrado de la desviación de </a:t>
                </a: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 respecto a su media </a:t>
                </a: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𝜇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𝐸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</a:t>
                </a:r>
              </a:p>
              <a:p>
                <a:pPr algn="l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𝑉𝑎𝑟</m:t>
                      </m:r>
                      <m:d>
                        <m:dPr>
                          <m:ctrlPr>
                            <a:rPr lang="es-AR" sz="28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A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</m:e>
                      </m:d>
                      <m:r>
                        <a:rPr lang="es-AR" sz="2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s-AR" sz="28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s-AR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s-A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</m:sub>
                        <m:sup>
                          <m:r>
                            <a:rPr lang="es-A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bSup>
                      <m:r>
                        <a:rPr lang="es-AR" sz="28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s-AR" sz="28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AR" sz="28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sz="2800" b="0" i="1" dirty="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800" b="0" i="1" dirty="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𝑋</m:t>
                                  </m:r>
                                  <m:r>
                                    <a:rPr lang="es-AR" sz="2800" b="0" i="1" dirty="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−</m:t>
                                  </m:r>
                                  <m:r>
                                    <a:rPr lang="es-AR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s-AR" sz="28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AR" sz="28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pHide m:val="on"/>
                          <m:ctrlPr>
                            <a:rPr lang="es-A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s-A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𝑖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es-AR" sz="28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sz="2800" b="0" i="1" dirty="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s-AR" sz="2800" b="0" i="1" dirty="0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s-AR" sz="2800" b="0" i="1" dirty="0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s-AR" sz="2800" b="0" i="1" dirty="0" smtClean="0">
                                          <a:latin typeface="Cambria Math" panose="02040503050406030204" pitchFamily="18" charset="0"/>
                                          <a:ea typeface="Calibri" panose="020F0502020204030204" pitchFamily="34" charset="0"/>
                                          <a:cs typeface="Calibri" panose="020F0502020204030204" pitchFamily="34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  <m:r>
                                    <a:rPr lang="es-AR" sz="2800" b="0" i="1" dirty="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−</m:t>
                                  </m:r>
                                  <m:r>
                                    <a:rPr lang="es-AR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s-AR" sz="28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s-A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𝑝</m:t>
                          </m:r>
                          <m:r>
                            <a:rPr lang="es-A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s-AR" sz="28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AR" sz="28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s-AR" sz="28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s-A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es-AR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536911A-A7E0-132A-5CEE-FC62D9196E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20" y="1150558"/>
                <a:ext cx="8637760" cy="3351163"/>
              </a:xfrm>
              <a:prstGeom prst="roundRect">
                <a:avLst>
                  <a:gd name="adj" fmla="val 12161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16E7A17-ACA5-911D-2A73-EC5D9E572788}"/>
                  </a:ext>
                </a:extLst>
              </p:cNvPr>
              <p:cNvSpPr txBox="1"/>
              <p:nvPr/>
            </p:nvSpPr>
            <p:spPr>
              <a:xfrm>
                <a:off x="253120" y="4910697"/>
                <a:ext cx="8502573" cy="16466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La varianza es siempre no negativa:  </a:t>
                </a:r>
                <a14:m>
                  <m:oMath xmlns:m="http://schemas.openxmlformats.org/officeDocument/2006/math"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𝑉𝑎𝑟</m:t>
                    </m:r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)&gt;0</m:t>
                    </m:r>
                  </m:oMath>
                </a14:m>
                <a:endParaRPr lang="es-AR" sz="2400" b="0" i="0" u="none" strike="noStrike" baseline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342900" indent="-34290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Nos proporciona información sobre </a:t>
                </a:r>
                <a:r>
                  <a:rPr lang="es-AR" sz="2400" b="1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la cantidad de variabilidad en la distribución </a:t>
                </a:r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 </a:t>
                </a:r>
                <a14:m>
                  <m:oMath xmlns:m="http://schemas.openxmlformats.org/officeDocument/2006/math"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s-A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 Formaliza la idea de INCERTIDUMBRE y PRECISIÓN sobre una variable aleatoria</a:t>
                </a: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016E7A17-ACA5-911D-2A73-EC5D9E5727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3120" y="4910697"/>
                <a:ext cx="8502573" cy="1646605"/>
              </a:xfrm>
              <a:prstGeom prst="rect">
                <a:avLst/>
              </a:prstGeom>
              <a:blipFill>
                <a:blip r:embed="rId3"/>
                <a:stretch>
                  <a:fillRect l="-1004" t="-2963" b="-7407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340555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2D2006AF-0ED3-BBF1-8B53-3C7C2A991AE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 Aleatoria Discreta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2224B481-D00A-51AB-1D40-656986507B6A}"/>
              </a:ext>
            </a:extLst>
          </p:cNvPr>
          <p:cNvSpPr txBox="1"/>
          <p:nvPr/>
        </p:nvSpPr>
        <p:spPr>
          <a:xfrm>
            <a:off x="325675" y="5092390"/>
            <a:ext cx="673900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400" b="1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c) Calcular la esperanza y la varianza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0C763EFA-49CD-E4F5-EE8A-3F6B81897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494411"/>
              </p:ext>
            </p:extLst>
          </p:nvPr>
        </p:nvGraphicFramePr>
        <p:xfrm>
          <a:off x="1316275" y="3520735"/>
          <a:ext cx="6774494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494">
                  <a:extLst>
                    <a:ext uri="{9D8B030D-6E8A-4147-A177-3AD203B41FA5}">
                      <a16:colId xmlns:a16="http://schemas.microsoft.com/office/drawing/2014/main" val="393304284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42794701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053879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37432461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54612405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5381670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2810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P(X=x)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0,3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0,25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0,25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0,1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s-AR" sz="24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a:t>0,1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108805"/>
                  </a:ext>
                </a:extLst>
              </a:tr>
            </a:tbl>
          </a:graphicData>
        </a:graphic>
      </p:graphicFrame>
      <p:sp>
        <p:nvSpPr>
          <p:cNvPr id="8" name="CuadroTexto 7">
            <a:extLst>
              <a:ext uri="{FF2B5EF4-FFF2-40B4-BE49-F238E27FC236}">
                <a16:creationId xmlns:a16="http://schemas.microsoft.com/office/drawing/2014/main" id="{AC54AC5E-0CEA-D5AB-48CD-9292B3FB358A}"/>
              </a:ext>
            </a:extLst>
          </p:cNvPr>
          <p:cNvSpPr txBox="1"/>
          <p:nvPr/>
        </p:nvSpPr>
        <p:spPr>
          <a:xfrm>
            <a:off x="325676" y="1303945"/>
            <a:ext cx="707720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s-AR" sz="2400" b="1" i="1" u="none" strike="noStrike" baseline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partir de la resolución de la actividad anterior...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61DDC5C-6385-2845-9F9C-3E1404ECB7F7}"/>
              </a:ext>
            </a:extLst>
          </p:cNvPr>
          <p:cNvSpPr txBox="1"/>
          <p:nvPr/>
        </p:nvSpPr>
        <p:spPr>
          <a:xfrm>
            <a:off x="325675" y="2024499"/>
            <a:ext cx="854275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s-AR" sz="2400" b="0" i="0" u="none" strike="noStrike" baseline="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Supongan que una variable aleatoria discreta X toma todos los valores enteros entre 0 y 4 con la siguiente función de distribución de probabilidad:</a:t>
            </a:r>
            <a:endParaRPr lang="es-AR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07825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631FED6B-6529-3D3F-B886-CFCEE164CE7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80000">
              <a:lnSpc>
                <a:spcPct val="100000"/>
              </a:lnSpc>
              <a:spcBef>
                <a:spcPts val="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 Aleatoria Continuas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39D50CF-34CF-DFDD-E28B-E039A2F93023}"/>
                  </a:ext>
                </a:extLst>
              </p:cNvPr>
              <p:cNvSpPr txBox="1"/>
              <p:nvPr/>
            </p:nvSpPr>
            <p:spPr>
              <a:xfrm>
                <a:off x="152969" y="2735885"/>
                <a:ext cx="8837427" cy="40934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s-AR" sz="2400" b="0" i="0" u="none" strike="noStrike" baseline="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Ejemplos:</a:t>
                </a:r>
              </a:p>
              <a:p>
                <a:pPr marL="342900" indent="-34290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sz="2400" b="0" i="1" u="none" strike="noStrike" baseline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s-AR" sz="2400" b="0" i="0" u="none" strike="noStrike" baseline="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Tiempo de producción de una pieza en una línea de ensamblaje, medido en minutos, donde X asume valores en (10; 60) minutos.</a:t>
                </a:r>
              </a:p>
              <a:p>
                <a:pPr marL="342900" indent="-342900" algn="l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sz="2400" b="0" i="1" u="none" strike="noStrike" baseline="0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𝑊</m:t>
                    </m:r>
                  </m:oMath>
                </a14:m>
                <a:r>
                  <a:rPr lang="es-AR" sz="2400" b="0" i="0" u="none" strike="noStrike" baseline="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= Diámetro de un eje cilíndrico fabricado en un proceso industrial, donde W puede asumir valores en (4,95; 5,05) milímetros.</a:t>
                </a:r>
                <a:endParaRPr lang="es-AR" sz="2400" kern="100" dirty="0">
                  <a:solidFill>
                    <a:schemeClr val="tx1"/>
                  </a:solidFill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es-AR" sz="2400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En la práctica, </a:t>
                </a:r>
                <a:r>
                  <a:rPr lang="es-AR" sz="2400" u="sng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la mayoría de las variables aleatorias continuas representan datos </a:t>
                </a:r>
                <a:r>
                  <a:rPr lang="es-AR" sz="2400" i="1" u="sng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medidos</a:t>
                </a:r>
                <a:r>
                  <a:rPr lang="es-AR" sz="2400" kern="1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</a:t>
                </a:r>
                <a:r>
                  <a:rPr lang="es-AR" sz="2400" kern="100" dirty="0"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pesos, alturas, temperaturas, distancias o tiempos de vida) </a:t>
                </a:r>
                <a:endParaRPr lang="es-AR" sz="2400" b="0" i="0" u="none" strike="noStrike" baseline="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F39D50CF-34CF-DFDD-E28B-E039A2F930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969" y="2735885"/>
                <a:ext cx="8837427" cy="4093428"/>
              </a:xfrm>
              <a:prstGeom prst="rect">
                <a:avLst/>
              </a:prstGeom>
              <a:blipFill>
                <a:blip r:embed="rId2"/>
                <a:stretch>
                  <a:fillRect l="-1034" t="-1192" r="-1655" b="-2534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DE789E5-9EDB-E1E6-1E99-957B60C59B65}"/>
                  </a:ext>
                </a:extLst>
              </p:cNvPr>
              <p:cNvSpPr txBox="1"/>
              <p:nvPr/>
            </p:nvSpPr>
            <p:spPr>
              <a:xfrm>
                <a:off x="306570" y="1008871"/>
                <a:ext cx="8530223" cy="1532334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269875" algn="l"/>
                <a:r>
                  <a:rPr lang="es-AR" sz="2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Una variable aleatoria </a:t>
                </a: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</m:oMath>
                </a14:m>
                <a:r>
                  <a:rPr lang="es-AR" sz="2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que puede tomar cualquier valor en un intervalo (su rango de valores incluye un intervalo </a:t>
                </a: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)⊆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𝑅</m:t>
                    </m:r>
                  </m:oMath>
                </a14:m>
                <a:r>
                  <a:rPr lang="es-AR" sz="2800" b="0" i="0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se denomina </a:t>
                </a:r>
                <a:r>
                  <a:rPr lang="es-AR" sz="2800" b="1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v.a.</a:t>
                </a:r>
                <a:r>
                  <a:rPr lang="es-AR" sz="2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Continua.</a:t>
                </a:r>
                <a:endParaRPr lang="es-AR" sz="2800" b="1" i="0" u="none" strike="noStrike" baseline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6" name="CuadroTexto 5">
                <a:extLst>
                  <a:ext uri="{FF2B5EF4-FFF2-40B4-BE49-F238E27FC236}">
                    <a16:creationId xmlns:a16="http://schemas.microsoft.com/office/drawing/2014/main" id="{BDE789E5-9EDB-E1E6-1E99-957B60C59B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570" y="1008871"/>
                <a:ext cx="8530223" cy="1532334"/>
              </a:xfrm>
              <a:prstGeom prst="roundRect">
                <a:avLst/>
              </a:prstGeom>
              <a:blipFill>
                <a:blip r:embed="rId3"/>
                <a:stretch>
                  <a:fillRect b="-595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1968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D0D16-B2B2-C1B1-9B0D-36521EBCF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60DCD490-96EE-B9B3-F071-5E4FED24C01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Variables Aleatorias Continuas</a:t>
            </a:r>
          </a:p>
        </p:txBody>
      </p:sp>
      <p:grpSp>
        <p:nvGrpSpPr>
          <p:cNvPr id="10" name="Grupo 9">
            <a:extLst>
              <a:ext uri="{FF2B5EF4-FFF2-40B4-BE49-F238E27FC236}">
                <a16:creationId xmlns:a16="http://schemas.microsoft.com/office/drawing/2014/main" id="{1BE70435-8B2E-B55E-4F84-7E58B25E7CE7}"/>
              </a:ext>
            </a:extLst>
          </p:cNvPr>
          <p:cNvGrpSpPr/>
          <p:nvPr/>
        </p:nvGrpSpPr>
        <p:grpSpPr>
          <a:xfrm>
            <a:off x="266178" y="1350937"/>
            <a:ext cx="8611643" cy="4681496"/>
            <a:chOff x="266178" y="1350937"/>
            <a:chExt cx="8611643" cy="46814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6D5CB074-B00E-4446-4753-32C1415FCC21}"/>
                    </a:ext>
                  </a:extLst>
                </p:cNvPr>
                <p:cNvSpPr txBox="1"/>
                <p:nvPr/>
              </p:nvSpPr>
              <p:spPr>
                <a:xfrm>
                  <a:off x="266178" y="1350937"/>
                  <a:ext cx="8611643" cy="4681496"/>
                </a:xfrm>
                <a:prstGeom prst="roundRect">
                  <a:avLst>
                    <a:gd name="adj" fmla="val 11244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 marL="174625">
                    <a:spcAft>
                      <a:spcPts val="600"/>
                    </a:spcAft>
                  </a:pPr>
                  <a:r>
                    <a:rPr lang="es-AR" sz="2800" b="1" i="0" u="none" strike="noStrike" baseline="0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Función de</a:t>
                  </a:r>
                  <a:r>
                    <a:rPr lang="es-AR" sz="2800" b="1" i="0" u="none" strike="noStrike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Densidad</a:t>
                  </a:r>
                  <a:r>
                    <a:rPr lang="es-AR" sz="2800" b="1" i="0" u="none" strike="noStrike" baseline="0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de Probabilidad </a:t>
                  </a:r>
                  <a:r>
                    <a:rPr lang="es-AR" sz="2800" b="0" i="0" u="none" strike="noStrike" baseline="0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de una </a:t>
                  </a:r>
                  <a:r>
                    <a:rPr lang="es-AR" sz="2800" b="0" i="0" u="none" strike="noStrike" baseline="0" dirty="0" err="1">
                      <a:solidFill>
                        <a:srgbClr val="00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v.a.</a:t>
                  </a:r>
                  <a:r>
                    <a:rPr lang="es-AR" sz="2800" b="0" i="0" u="none" strike="noStrike" baseline="0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Continua </a:t>
                  </a:r>
                  <a14:m>
                    <m:oMath xmlns:m="http://schemas.openxmlformats.org/officeDocument/2006/math">
                      <m:r>
                        <a:rPr lang="es-AR" sz="2800" b="0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𝑋</m:t>
                      </m:r>
                    </m:oMath>
                  </a14:m>
                  <a:r>
                    <a:rPr lang="es-AR" sz="2800" b="0" i="0" u="none" strike="noStrike" baseline="0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es una función</a:t>
                  </a:r>
                  <a:r>
                    <a:rPr lang="es-AR" sz="2800" i="1" u="none" strike="noStrike" baseline="0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s-AR" sz="2800" b="0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𝑓</m:t>
                      </m:r>
                      <m:d>
                        <m:dPr>
                          <m:ctrlPr>
                            <a:rPr lang="es-AR" sz="2800" b="0" i="1" u="none" strike="noStrike" baseline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AR" sz="2800" b="0" i="1" u="none" strike="noStrike" baseline="0" dirty="0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es-AR" sz="2800" b="0" i="0" u="none" strike="noStrike" baseline="0" dirty="0">
                      <a:solidFill>
                        <a:srgbClr val="000000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tal que describe la probabilidad de que</a:t>
                  </a:r>
                  <a14:m>
                    <m:oMath xmlns:m="http://schemas.openxmlformats.org/officeDocument/2006/math">
                      <m:r>
                        <a:rPr lang="es-AR" sz="2800" b="0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  <m:r>
                        <a:rPr lang="es-AR" sz="2800" b="0" i="1" u="none" strike="noStrike" baseline="0" dirty="0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𝑋</m:t>
                      </m:r>
                      <m:r>
                        <a:rPr lang="es-AR" i="1" kern="100" dirty="0">
                          <a:solidFill>
                            <a:srgbClr val="231F20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a14:m>
                  <a:r>
                    <a:rPr lang="es-AR" sz="2800" kern="100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esté en un intervalo </a:t>
                  </a:r>
                  <a14:m>
                    <m:oMath xmlns:m="http://schemas.openxmlformats.org/officeDocument/2006/math">
                      <m:r>
                        <a:rPr lang="es-AR" sz="2800" i="1" kern="100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[</m:t>
                      </m:r>
                      <m:r>
                        <a:rPr lang="es-AR" sz="2800" i="1" kern="100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𝑎</m:t>
                      </m:r>
                      <m:r>
                        <a:rPr lang="es-AR" sz="2800" i="1" kern="100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,</m:t>
                      </m:r>
                      <m:r>
                        <a:rPr lang="es-AR" sz="2800" i="1" kern="100" dirty="0" err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𝑏</m:t>
                      </m:r>
                      <m:r>
                        <a:rPr lang="es-AR" sz="2800" b="0" i="1" kern="1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]</m:t>
                      </m:r>
                      <m:r>
                        <a:rPr lang="es-AR" sz="2800" i="1" kern="10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a14:m>
                  <a:r>
                    <a:rPr lang="es-AR" sz="2800" kern="100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de la siguiente forma</a:t>
                  </a:r>
                  <a:r>
                    <a:rPr lang="es-AR" kern="100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:</a:t>
                  </a:r>
                </a:p>
                <a:p>
                  <a:pPr marL="174625" algn="l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𝑃</m:t>
                        </m:r>
                        <m:d>
                          <m:dPr>
                            <m:ctrlP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≤</m:t>
                            </m:r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𝑋</m:t>
                            </m:r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≤</m:t>
                            </m:r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𝑏</m:t>
                            </m:r>
                          </m:e>
                        </m:d>
                        <m:r>
                          <a:rPr lang="es-AR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=</m:t>
                        </m:r>
                        <m:nary>
                          <m:naryPr>
                            <m:ctrlP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m:rPr>
                                <m:brk m:alnAt="23"/>
                              </m:rP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𝑎</m:t>
                            </m:r>
                          </m:sub>
                          <m:sup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𝑏</m:t>
                            </m:r>
                          </m:sup>
                          <m:e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s-AR" sz="2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s-AR" sz="2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𝑑𝑥</m:t>
                            </m:r>
                          </m:e>
                        </m:nary>
                      </m:oMath>
                    </m:oMathPara>
                  </a14:m>
                  <a:endParaRPr lang="es-AR" sz="2800" dirty="0">
                    <a:solidFill>
                      <a:schemeClr val="tx1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174625" algn="l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s-AR" sz="2400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La función </a:t>
                  </a:r>
                  <a14:m>
                    <m:oMath xmlns:m="http://schemas.openxmlformats.org/officeDocument/2006/math">
                      <m:r>
                        <a:rPr lang="es-AR" sz="2400" b="0" i="1" u="none" strike="noStrike" baseline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𝑓</m:t>
                      </m:r>
                      <m:d>
                        <m:dPr>
                          <m:ctrlPr>
                            <a:rPr lang="es-AR" sz="2400" b="0" i="1" u="none" strike="noStrike" baseline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AR" sz="2400" b="0" i="1" u="none" strike="noStrike" baseline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es-AR" sz="2400" b="0" i="0" u="none" strike="noStrike" baseline="0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</a:t>
                  </a:r>
                  <a:r>
                    <a:rPr lang="es-AR" sz="2400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debe cumplir: </a:t>
                  </a:r>
                </a:p>
                <a:p>
                  <a:pPr marL="631825" indent="-457200" algn="l">
                    <a:spcAft>
                      <a:spcPts val="600"/>
                    </a:spcAft>
                    <a:buFontTx/>
                    <a:buChar char="-"/>
                  </a:pPr>
                  <a14:m>
                    <m:oMath xmlns:m="http://schemas.openxmlformats.org/officeDocument/2006/math">
                      <m:r>
                        <a:rPr lang="es-A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𝑓</m:t>
                      </m:r>
                      <m:d>
                        <m:dPr>
                          <m:ctrlP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AR" sz="24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</m:d>
                      <m:r>
                        <a:rPr lang="es-A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≥0    ∀</m:t>
                      </m:r>
                      <m:r>
                        <a:rPr lang="es-A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 panose="020F0502020204030204" pitchFamily="34" charset="0"/>
                        </a:rPr>
                        <m:t>𝑥</m:t>
                      </m:r>
                    </m:oMath>
                  </a14:m>
                  <a:endParaRPr lang="es-AR" sz="2400" b="0" dirty="0">
                    <a:solidFill>
                      <a:schemeClr val="tx1"/>
                    </a:solidFill>
                    <a:latin typeface="Calibri" panose="020F0502020204030204" pitchFamily="34" charset="0"/>
                    <a:ea typeface="Cambria Math" panose="02040503050406030204" pitchFamily="18" charset="0"/>
                    <a:cs typeface="Calibri" panose="020F0502020204030204" pitchFamily="34" charset="0"/>
                  </a:endParaRPr>
                </a:p>
                <a:p>
                  <a:pPr marL="631825" indent="-457200">
                    <a:buFontTx/>
                    <a:buChar char="-"/>
                  </a:pPr>
                  <a14:m>
                    <m:oMath xmlns:m="http://schemas.openxmlformats.org/officeDocument/2006/math">
                      <m:nary>
                        <m:naryPr>
                          <m:ctrlPr>
                            <a:rPr lang="es-AR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s-AR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−</m:t>
                          </m:r>
                          <m:r>
                            <a:rPr lang="es-AR" sz="240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∞</m:t>
                          </m:r>
                        </m:sub>
                        <m:sup>
                          <m:r>
                            <a:rPr lang="es-AR" sz="240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s-AR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AR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s-AR" sz="2400" i="1" kern="1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AR" sz="2400" i="1" kern="1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𝑑</m:t>
                          </m:r>
                          <m:r>
                            <a:rPr lang="es-AR" sz="2400" b="0" i="1" kern="10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</m:e>
                      </m:nary>
                      <m:r>
                        <a:rPr lang="es-AR" sz="24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=1</m:t>
                      </m:r>
                    </m:oMath>
                  </a14:m>
                  <a:endParaRPr lang="es-A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6D5CB074-B00E-4446-4753-32C1415FCC2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6178" y="1350937"/>
                  <a:ext cx="8611643" cy="4681496"/>
                </a:xfrm>
                <a:prstGeom prst="roundRect">
                  <a:avLst>
                    <a:gd name="adj" fmla="val 11244"/>
                  </a:avLst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5A391282-8442-82C5-7354-FE130544406A}"/>
                </a:ext>
              </a:extLst>
            </p:cNvPr>
            <p:cNvSpPr txBox="1"/>
            <p:nvPr/>
          </p:nvSpPr>
          <p:spPr>
            <a:xfrm>
              <a:off x="7139835" y="3691685"/>
              <a:ext cx="16033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AR" sz="2000" kern="100" dirty="0">
                  <a:solidFill>
                    <a:srgbClr val="231F20"/>
                  </a:solidFill>
                  <a:latin typeface="Calibri" panose="020F0502020204030204" pitchFamily="34" charset="0"/>
                  <a:ea typeface="Aptos" panose="020B0004020202020204" pitchFamily="34" charset="0"/>
                  <a:cs typeface="Calibri" panose="020F0502020204030204" pitchFamily="34" charset="0"/>
                </a:rPr>
                <a:t>con </a:t>
              </a:r>
              <a:r>
                <a:rPr lang="es-AR" sz="2000" i="1" kern="100" dirty="0">
                  <a:solidFill>
                    <a:srgbClr val="231F20"/>
                  </a:solidFill>
                  <a:latin typeface="Calibri" panose="020F0502020204030204" pitchFamily="34" charset="0"/>
                  <a:ea typeface="Aptos" panose="020B0004020202020204" pitchFamily="34" charset="0"/>
                  <a:cs typeface="Calibri" panose="020F0502020204030204" pitchFamily="34" charset="0"/>
                </a:rPr>
                <a:t>a </a:t>
              </a:r>
              <a:r>
                <a:rPr lang="es-AR" sz="2000" kern="100" dirty="0">
                  <a:solidFill>
                    <a:srgbClr val="231F20"/>
                  </a:solidFill>
                  <a:latin typeface="Calibri" panose="020F0502020204030204" pitchFamily="34" charset="0"/>
                  <a:ea typeface="Aptos" panose="020B0004020202020204" pitchFamily="34" charset="0"/>
                  <a:cs typeface="Calibri" panose="020F0502020204030204" pitchFamily="34" charset="0"/>
                </a:rPr>
                <a:t>≤ </a:t>
              </a:r>
              <a:r>
                <a:rPr lang="es-AR" sz="2000" i="1" kern="100" dirty="0">
                  <a:solidFill>
                    <a:srgbClr val="231F20"/>
                  </a:solidFill>
                  <a:latin typeface="Calibri" panose="020F0502020204030204" pitchFamily="34" charset="0"/>
                  <a:ea typeface="Aptos" panose="020B0004020202020204" pitchFamily="34" charset="0"/>
                  <a:cs typeface="Calibri" panose="020F0502020204030204" pitchFamily="34" charset="0"/>
                </a:rPr>
                <a:t>b</a:t>
              </a:r>
              <a:endParaRPr lang="es-AR" dirty="0"/>
            </a:p>
          </p:txBody>
        </p:sp>
      </p:grpSp>
    </p:spTree>
    <p:extLst>
      <p:ext uri="{BB962C8B-B14F-4D97-AF65-F5344CB8AC3E}">
        <p14:creationId xmlns:p14="http://schemas.microsoft.com/office/powerpoint/2010/main" val="42352855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38F73DAB-2159-A000-14F4-371BF5A74A5D}"/>
              </a:ext>
            </a:extLst>
          </p:cNvPr>
          <p:cNvSpPr txBox="1"/>
          <p:nvPr/>
        </p:nvSpPr>
        <p:spPr>
          <a:xfrm>
            <a:off x="435669" y="5919808"/>
            <a:ext cx="799708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es-AR" sz="2000" kern="1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Para estudiar variables aleatorias discretas </a:t>
            </a:r>
            <a:r>
              <a:rPr lang="es-AR" sz="2000" kern="1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s-AR" sz="2000" u="sng" kern="1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sumas y diferencias</a:t>
            </a:r>
            <a:r>
              <a:rPr lang="es-AR" sz="2000" kern="1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es-AR" sz="2000" kern="1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El estudio de variables continuas </a:t>
            </a:r>
            <a:r>
              <a:rPr lang="es-AR" sz="2000" kern="1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  <a:sym typeface="Wingdings" panose="05000000000000000000" pitchFamily="2" charset="2"/>
              </a:rPr>
              <a:t></a:t>
            </a:r>
            <a:r>
              <a:rPr lang="es-AR" sz="2000" kern="1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 </a:t>
            </a:r>
            <a:r>
              <a:rPr lang="es-AR" sz="2000" u="sng" kern="1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integrales y derivadas</a:t>
            </a:r>
            <a:r>
              <a:rPr lang="es-AR" sz="2000" kern="100" dirty="0">
                <a:solidFill>
                  <a:srgbClr val="231F20"/>
                </a:solidFill>
                <a:effectLst/>
                <a:latin typeface="Calibri" panose="020F0502020204030204" pitchFamily="34" charset="0"/>
                <a:ea typeface="Aptos" panose="020B0004020202020204" pitchFamily="34" charset="0"/>
                <a:cs typeface="Calibri" panose="020F0502020204030204" pitchFamily="34" charset="0"/>
              </a:rPr>
              <a:t>.</a:t>
            </a:r>
            <a:endParaRPr lang="es-AR" sz="2400" kern="100" dirty="0">
              <a:effectLst/>
              <a:latin typeface="Calibri" panose="020F050202020403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FD5CF34-FE77-EBDF-561E-9B5090985EC3}"/>
                  </a:ext>
                </a:extLst>
              </p:cNvPr>
              <p:cNvSpPr txBox="1"/>
              <p:nvPr/>
            </p:nvSpPr>
            <p:spPr>
              <a:xfrm>
                <a:off x="245040" y="1096939"/>
                <a:ext cx="8653920" cy="120032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s-AR" sz="24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</a:rPr>
                  <a:t>Es decir, la </a:t>
                </a:r>
                <a:r>
                  <a:rPr lang="es-AR" sz="2400" i="1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</a:rPr>
                  <a:t>probabilidad</a:t>
                </a:r>
                <a:r>
                  <a:rPr lang="es-AR" sz="24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</a:rPr>
                  <a:t> de que </a:t>
                </a:r>
                <a14:m>
                  <m:oMath xmlns:m="http://schemas.openxmlformats.org/officeDocument/2006/math">
                    <m:r>
                      <a:rPr lang="es-AR" sz="2400" i="1" dirty="0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𝑋</m:t>
                    </m:r>
                  </m:oMath>
                </a14:m>
                <a:r>
                  <a:rPr lang="es-AR" sz="2400" i="1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</a:rPr>
                  <a:t> </a:t>
                </a:r>
                <a:r>
                  <a:rPr lang="es-AR" sz="24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</a:rPr>
                  <a:t>asuma un valor en el intervalo </a:t>
                </a:r>
                <a14:m>
                  <m:oMath xmlns:m="http://schemas.openxmlformats.org/officeDocument/2006/math">
                    <m:r>
                      <a:rPr lang="es-AR" sz="2400" i="1" dirty="0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[</m:t>
                    </m:r>
                    <m:r>
                      <a:rPr lang="es-AR" sz="2400" i="1" dirty="0" err="1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</m:t>
                    </m:r>
                    <m:r>
                      <a:rPr lang="es-AR" sz="2400" i="1" dirty="0" err="1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</m:t>
                    </m:r>
                    <m:r>
                      <a:rPr lang="es-AR" sz="2400" i="1" dirty="0" err="1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𝑏</m:t>
                    </m:r>
                    <m:r>
                      <a:rPr lang="es-AR" sz="2400" i="1" dirty="0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] </m:t>
                    </m:r>
                  </m:oMath>
                </a14:m>
                <a:r>
                  <a:rPr lang="es-AR" sz="24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</a:rPr>
                  <a:t>– </a:t>
                </a:r>
                <a:r>
                  <a:rPr lang="es-AR" sz="2400" dirty="0" err="1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</a:rPr>
                  <a:t>ó</a:t>
                </a:r>
                <a:r>
                  <a:rPr lang="es-AR" sz="24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s-AR" sz="2400" i="1" dirty="0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(</m:t>
                    </m:r>
                    <m:r>
                      <a:rPr lang="es-AR" sz="2400" i="1" dirty="0" err="1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𝑎</m:t>
                    </m:r>
                    <m:r>
                      <a:rPr lang="es-AR" sz="2400" i="1" dirty="0" err="1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,</m:t>
                    </m:r>
                    <m:r>
                      <a:rPr lang="es-AR" sz="2400" i="1" dirty="0" err="1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𝑏</m:t>
                    </m:r>
                    <m:r>
                      <a:rPr lang="es-AR" sz="2400" i="1" dirty="0" smtClean="0">
                        <a:solidFill>
                          <a:srgbClr val="231F20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</a:rPr>
                      <m:t>)</m:t>
                    </m:r>
                  </m:oMath>
                </a14:m>
                <a:r>
                  <a:rPr lang="es-AR" sz="24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</a:rPr>
                  <a:t> - es el </a:t>
                </a:r>
                <a:r>
                  <a:rPr lang="es-AR" sz="2400" b="1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</a:rPr>
                  <a:t>área bajo la gráfica de la función de densidad </a:t>
                </a:r>
                <a:r>
                  <a:rPr lang="es-AR" sz="2400" dirty="0">
                    <a:solidFill>
                      <a:srgbClr val="231F20"/>
                    </a:solidFill>
                    <a:effectLst/>
                    <a:latin typeface="Calibri" panose="020F0502020204030204" pitchFamily="34" charset="0"/>
                    <a:ea typeface="Aptos" panose="020B0004020202020204" pitchFamily="34" charset="0"/>
                  </a:rPr>
                  <a:t>y </a:t>
                </a:r>
                <a:r>
                  <a:rPr lang="es-AR" sz="2400" dirty="0">
                    <a:solidFill>
                      <a:srgbClr val="231F20"/>
                    </a:solidFill>
                    <a:latin typeface="Calibri" panose="020F0502020204030204" pitchFamily="34" charset="0"/>
                    <a:ea typeface="Aptos" panose="020B0004020202020204" pitchFamily="34" charset="0"/>
                  </a:rPr>
                  <a:t>sobre este intervalo </a:t>
                </a:r>
                <a:endParaRPr lang="es-AR" sz="2400" b="1" dirty="0"/>
              </a:p>
            </p:txBody>
          </p:sp>
        </mc:Choice>
        <mc:Fallback xmlns="">
          <p:sp>
            <p:nvSpPr>
              <p:cNvPr id="9" name="CuadroTexto 8">
                <a:extLst>
                  <a:ext uri="{FF2B5EF4-FFF2-40B4-BE49-F238E27FC236}">
                    <a16:creationId xmlns:a16="http://schemas.microsoft.com/office/drawing/2014/main" id="{1FD5CF34-FE77-EBDF-561E-9B5090985E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5040" y="1096939"/>
                <a:ext cx="8653920" cy="1200329"/>
              </a:xfrm>
              <a:prstGeom prst="rect">
                <a:avLst/>
              </a:prstGeom>
              <a:blipFill>
                <a:blip r:embed="rId2"/>
                <a:stretch>
                  <a:fillRect l="-1056" t="-4061" r="-1056" b="-10152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ítulo 3">
            <a:extLst>
              <a:ext uri="{FF2B5EF4-FFF2-40B4-BE49-F238E27FC236}">
                <a16:creationId xmlns:a16="http://schemas.microsoft.com/office/drawing/2014/main" id="{3D993C5A-11D3-2F67-AFD6-D0DD7903388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Función de Densidad de Probabilidad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3C956D1-4133-18F2-0FB4-2C324785B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98" y="2580015"/>
            <a:ext cx="6250487" cy="3190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6707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8F1C7245-836F-271B-2A20-DA209925882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Función de Distribución Acumulada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AE3D888C-6F66-C5F1-0AFF-E1527DE49825}"/>
              </a:ext>
            </a:extLst>
          </p:cNvPr>
          <p:cNvGrpSpPr/>
          <p:nvPr/>
        </p:nvGrpSpPr>
        <p:grpSpPr>
          <a:xfrm>
            <a:off x="228600" y="1479869"/>
            <a:ext cx="8686800" cy="4083010"/>
            <a:chOff x="228600" y="1479869"/>
            <a:chExt cx="8686800" cy="408301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AFEE812A-8B79-8F7A-0678-473B586285FD}"/>
                    </a:ext>
                  </a:extLst>
                </p:cNvPr>
                <p:cNvSpPr txBox="1"/>
                <p:nvPr/>
              </p:nvSpPr>
              <p:spPr>
                <a:xfrm>
                  <a:off x="228600" y="1479869"/>
                  <a:ext cx="8686800" cy="4083010"/>
                </a:xfrm>
                <a:prstGeom prst="roundRect">
                  <a:avLst>
                    <a:gd name="adj" fmla="val 11338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txBody>
                <a:bodyPr wrap="square">
                  <a:spAutoFit/>
                </a:bodyPr>
                <a:lstStyle/>
                <a:p>
                  <a:pPr marL="538163" indent="-342900" algn="l">
                    <a:spcAft>
                      <a:spcPts val="1200"/>
                    </a:spcAft>
                  </a:pPr>
                  <a:r>
                    <a:rPr lang="es-AR" sz="2800" b="0" i="0" u="none" strike="noStrike" baseline="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La </a:t>
                  </a:r>
                  <a:r>
                    <a:rPr lang="es-AR" sz="2800" b="1" i="0" u="none" strike="noStrike" baseline="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función de distribución acumulada, </a:t>
                  </a:r>
                  <a14:m>
                    <m:oMath xmlns:m="http://schemas.openxmlformats.org/officeDocument/2006/math">
                      <m:r>
                        <a:rPr lang="es-AR" sz="2800" b="1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𝑭</m:t>
                      </m:r>
                      <m:r>
                        <a:rPr lang="es-AR" sz="2800" b="1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s-AR" sz="2800" b="1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𝒙</m:t>
                      </m:r>
                      <m:r>
                        <a:rPr lang="es-AR" sz="2800" b="1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</m:t>
                      </m:r>
                    </m:oMath>
                  </a14:m>
                  <a:r>
                    <a:rPr lang="es-AR" sz="2800" b="0" i="0" u="none" strike="noStrike" baseline="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, de una variable aleatoria X se define como:</a:t>
                  </a:r>
                </a:p>
                <a:p>
                  <a:pPr marL="538163" indent="-342900">
                    <a:spcAft>
                      <a:spcPts val="600"/>
                    </a:spcAft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𝐹</m:t>
                        </m:r>
                        <m:r>
                          <a:rPr lang="es-AR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s-AR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𝑥</m:t>
                        </m:r>
                        <m:r>
                          <a:rPr lang="es-AR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)=</m:t>
                        </m:r>
                        <m:r>
                          <a:rPr lang="es-AR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Calibri" panose="020F0502020204030204" pitchFamily="34" charset="0"/>
                          </a:rPr>
                          <m:t>𝑃</m:t>
                        </m:r>
                        <m:d>
                          <m:dPr>
                            <m:ctrlP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Calibri" panose="020F0502020204030204" pitchFamily="34" charset="0"/>
                              </a:rPr>
                            </m:ctrlPr>
                          </m:dPr>
                          <m:e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𝑋</m:t>
                            </m:r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≤</m:t>
                            </m:r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es-AR" sz="2800" b="0" i="1" kern="100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=</m:t>
                        </m:r>
                        <m:nary>
                          <m:naryPr>
                            <m:ctrlP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</m:ctrlPr>
                          </m:naryPr>
                          <m:sub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−∞</m:t>
                            </m:r>
                          </m:sub>
                          <m:sup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𝑥</m:t>
                            </m:r>
                          </m:sup>
                          <m:e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𝑓</m:t>
                            </m:r>
                            <m:d>
                              <m:dPr>
                                <m:ctrlPr>
                                  <a:rPr lang="es-AR" sz="2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</m:ctrlPr>
                              </m:dPr>
                              <m:e>
                                <m:r>
                                  <a:rPr lang="es-AR" sz="2800" b="0" i="1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libri" panose="020F0502020204030204" pitchFamily="34" charset="0"/>
                                  </a:rPr>
                                  <m:t>𝑡</m:t>
                                </m:r>
                              </m:e>
                            </m:d>
                            <m:r>
                              <a:rPr lang="es-AR" sz="2800" b="0" i="1" kern="100" smtClean="0">
                                <a:solidFill>
                                  <a:schemeClr val="tx1"/>
                                </a:solidFill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libri" panose="020F0502020204030204" pitchFamily="34" charset="0"/>
                              </a:rPr>
                              <m:t>𝑑𝑡</m:t>
                            </m:r>
                          </m:e>
                        </m:nary>
                      </m:oMath>
                    </m:oMathPara>
                  </a14:m>
                  <a:endParaRPr lang="es-A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  <a:p>
                  <a:pPr marL="538163" indent="-342900" algn="l">
                    <a:spcBef>
                      <a:spcPts val="600"/>
                    </a:spcBef>
                    <a:spcAft>
                      <a:spcPts val="600"/>
                    </a:spcAft>
                  </a:pPr>
                  <a:r>
                    <a:rPr lang="es-AR" sz="240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donde</a:t>
                  </a:r>
                </a:p>
                <a:p>
                  <a:pPr marL="538163" indent="-342900" algn="l"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s-AR" sz="2400" b="0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𝑓</m:t>
                      </m:r>
                      <m:r>
                        <a:rPr lang="es-AR" sz="2400" b="0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s-AR" sz="2400" b="0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𝑡</m:t>
                      </m:r>
                      <m:r>
                        <a:rPr lang="es-AR" sz="2400" b="0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</m:t>
                      </m:r>
                    </m:oMath>
                  </a14:m>
                  <a:r>
                    <a:rPr lang="es-AR" sz="2400" b="0" i="0" u="none" strike="noStrike" baseline="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 es la función de densidad de probabilidad de X</a:t>
                  </a:r>
                </a:p>
                <a:p>
                  <a:pPr marL="538163" indent="-342900" algn="l">
                    <a:spcAft>
                      <a:spcPts val="600"/>
                    </a:spcAft>
                    <a:buFont typeface="Arial" panose="020B0604020202020204" pitchFamily="34" charset="0"/>
                    <a:buChar char="•"/>
                  </a:pPr>
                  <a14:m>
                    <m:oMath xmlns:m="http://schemas.openxmlformats.org/officeDocument/2006/math">
                      <m:r>
                        <a:rPr lang="es-AR" sz="2400" b="0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𝐹</m:t>
                      </m:r>
                      <m:r>
                        <a:rPr lang="es-AR" sz="2400" b="0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(</m:t>
                      </m:r>
                      <m:r>
                        <a:rPr lang="es-AR" sz="2400" b="0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𝑥</m:t>
                      </m:r>
                      <m:r>
                        <a:rPr lang="es-AR" sz="2400" b="0" i="1" u="none" strike="noStrike" baseline="0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) </m:t>
                      </m:r>
                    </m:oMath>
                  </a14:m>
                  <a:r>
                    <a:rPr lang="es-AR" sz="2400" b="0" i="0" u="none" strike="noStrike" baseline="0" dirty="0">
                      <a:latin typeface="Calibri" panose="020F0502020204030204" pitchFamily="34" charset="0"/>
                      <a:ea typeface="Calibri" panose="020F0502020204030204" pitchFamily="34" charset="0"/>
                      <a:cs typeface="Calibri" panose="020F0502020204030204" pitchFamily="34" charset="0"/>
                    </a:rPr>
                    <a:t>da la probabilidad de que la variable aleatoria X tome un valor menor o igual a x</a:t>
                  </a:r>
                  <a:endParaRPr lang="es-AR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endParaRPr>
                </a:p>
              </p:txBody>
            </p:sp>
          </mc:Choice>
          <mc:Fallback xmlns="">
            <p:sp>
              <p:nvSpPr>
                <p:cNvPr id="4" name="CuadroTexto 3">
                  <a:extLst>
                    <a:ext uri="{FF2B5EF4-FFF2-40B4-BE49-F238E27FC236}">
                      <a16:creationId xmlns:a16="http://schemas.microsoft.com/office/drawing/2014/main" id="{AFEE812A-8B79-8F7A-0678-473B586285F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600" y="1479869"/>
                  <a:ext cx="8686800" cy="4083010"/>
                </a:xfrm>
                <a:prstGeom prst="roundRect">
                  <a:avLst>
                    <a:gd name="adj" fmla="val 11338"/>
                  </a:avLst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6282E2DF-3B3A-8DB0-1860-3B87D0457998}"/>
                    </a:ext>
                  </a:extLst>
                </p:cNvPr>
                <p:cNvSpPr txBox="1"/>
                <p:nvPr/>
              </p:nvSpPr>
              <p:spPr>
                <a:xfrm>
                  <a:off x="6978897" y="3005356"/>
                  <a:ext cx="1790683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∞&lt;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&lt;∞</m:t>
                        </m:r>
                      </m:oMath>
                    </m:oMathPara>
                  </a14:m>
                  <a:endParaRPr lang="es-AR" sz="2400" dirty="0"/>
                </a:p>
              </p:txBody>
            </p:sp>
          </mc:Choice>
          <mc:Fallback xmlns="">
            <p:sp>
              <p:nvSpPr>
                <p:cNvPr id="8" name="CuadroTexto 7">
                  <a:extLst>
                    <a:ext uri="{FF2B5EF4-FFF2-40B4-BE49-F238E27FC236}">
                      <a16:creationId xmlns:a16="http://schemas.microsoft.com/office/drawing/2014/main" id="{6282E2DF-3B3A-8DB0-1860-3B87D045799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978897" y="3005356"/>
                  <a:ext cx="1790683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1020" r="-2041" b="-3279"/>
                  </a:stretch>
                </a:blipFill>
              </p:spPr>
              <p:txBody>
                <a:bodyPr/>
                <a:lstStyle/>
                <a:p>
                  <a:r>
                    <a:rPr lang="es-AR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534D3EC-5F82-DBEB-BFC5-9AC115F1FCB9}"/>
                  </a:ext>
                </a:extLst>
              </p:cNvPr>
              <p:cNvSpPr txBox="1"/>
              <p:nvPr/>
            </p:nvSpPr>
            <p:spPr>
              <a:xfrm>
                <a:off x="605790" y="6023916"/>
                <a:ext cx="6480810" cy="6330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ü"/>
                </a:pPr>
                <a:r>
                  <a:rPr lang="es-AR" sz="2000" dirty="0"/>
                  <a:t>Si existe la derivada, </a:t>
                </a:r>
                <a14:m>
                  <m:oMath xmlns:m="http://schemas.openxmlformats.org/officeDocument/2006/math"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A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A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s-A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𝑑𝐹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s-AR" sz="2400" b="0" i="1" smtClean="0">
                            <a:latin typeface="Cambria Math" panose="02040503050406030204" pitchFamily="18" charset="0"/>
                          </a:rPr>
                          <m:t>𝑑𝑥</m:t>
                        </m:r>
                      </m:den>
                    </m:f>
                  </m:oMath>
                </a14:m>
                <a:endParaRPr lang="es-AR" sz="2000" dirty="0"/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534D3EC-5F82-DBEB-BFC5-9AC115F1FC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790" y="6023916"/>
                <a:ext cx="6480810" cy="633058"/>
              </a:xfrm>
              <a:prstGeom prst="rect">
                <a:avLst/>
              </a:prstGeom>
              <a:blipFill>
                <a:blip r:embed="rId4"/>
                <a:stretch>
                  <a:fillRect l="-846" b="-2885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56443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EB46A111-108D-B8A8-481D-C6652E608C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191" y="1762517"/>
            <a:ext cx="7315200" cy="3733800"/>
          </a:xfrm>
          <a:prstGeom prst="rect">
            <a:avLst/>
          </a:prstGeom>
        </p:spPr>
      </p:pic>
      <p:sp>
        <p:nvSpPr>
          <p:cNvPr id="6" name="Título 3">
            <a:extLst>
              <a:ext uri="{FF2B5EF4-FFF2-40B4-BE49-F238E27FC236}">
                <a16:creationId xmlns:a16="http://schemas.microsoft.com/office/drawing/2014/main" id="{08E7521E-37BA-B34C-46F9-24E52E4C59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Función de Distribución Acumulada</a:t>
            </a:r>
          </a:p>
        </p:txBody>
      </p:sp>
    </p:spTree>
    <p:extLst>
      <p:ext uri="{BB962C8B-B14F-4D97-AF65-F5344CB8AC3E}">
        <p14:creationId xmlns:p14="http://schemas.microsoft.com/office/powerpoint/2010/main" val="42818723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D5BBDF3-EA81-7942-A4E9-01E7E07CA8A4}"/>
                  </a:ext>
                </a:extLst>
              </p:cNvPr>
              <p:cNvSpPr txBox="1"/>
              <p:nvPr/>
            </p:nvSpPr>
            <p:spPr>
              <a:xfrm>
                <a:off x="176814" y="814192"/>
                <a:ext cx="8790372" cy="567847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600"/>
                  </a:spcAft>
                </a:pPr>
                <a:r>
                  <a:rPr lang="es-AR" sz="2800" b="1" i="1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Observación</a:t>
                </a:r>
              </a:p>
              <a:p>
                <a:pPr algn="l">
                  <a:spcAft>
                    <a:spcPts val="600"/>
                  </a:spcAft>
                </a:pPr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Sea F la funci</a:t>
                </a:r>
                <a:r>
                  <a:rPr lang="es-A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ó</a:t>
                </a:r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 de distribución de una variable aleatoria X. Sean </a:t>
                </a:r>
                <a14:m>
                  <m:oMath xmlns:m="http://schemas.openxmlformats.org/officeDocument/2006/math"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s-AR" sz="24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, </m:t>
                    </m:r>
                    <m:r>
                      <a:rPr lang="es-AR" sz="24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s-AR" sz="24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∈</m:t>
                    </m:r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ℝ</m:t>
                    </m:r>
                    <m:r>
                      <a:rPr lang="es-AR" sz="24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es-AR" sz="24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tales que </a:t>
                </a:r>
                <a14:m>
                  <m:oMath xmlns:m="http://schemas.openxmlformats.org/officeDocument/2006/math"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s-AR" sz="24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</m:oMath>
                </a14:m>
                <a:endParaRPr lang="es-AR" sz="2400" b="0" i="0" u="none" strike="noStrike" baseline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l"/>
                <a:r>
                  <a:rPr lang="es-AR" sz="28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 X es discreta</a:t>
                </a:r>
                <a:endParaRPr lang="es-AR" sz="2800" b="1" i="1" u="none" strike="noStrike" baseline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)=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𝐹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)−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𝐹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2800" b="0" i="0" u="none" strike="noStrike" baseline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)=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𝐹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)−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𝐹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)+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s-AR" sz="2800" b="0" i="0" u="none" strike="noStrike" baseline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≤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)=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𝐹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)−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𝐹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)−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)+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n-US" sz="2800" b="0" i="0" u="none" strike="noStrike" baseline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u="none" strike="noStrike" baseline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&lt;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)=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𝐹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)−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𝐹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𝑎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)−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𝑃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(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𝑋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𝑏</m:t>
                    </m:r>
                    <m:r>
                      <a:rPr lang="en-US" sz="2800" b="0" i="1" u="none" strike="noStrike" baseline="0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)</m:t>
                    </m:r>
                  </m:oMath>
                </a14:m>
                <a:endParaRPr lang="es-AR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algn="l">
                  <a:spcBef>
                    <a:spcPts val="1200"/>
                  </a:spcBef>
                </a:pPr>
                <a:r>
                  <a:rPr lang="es-AR" sz="2800" b="1" i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Si X es continua</a:t>
                </a:r>
              </a:p>
              <a:p>
                <a:pPr marL="285750" indent="-285750" algn="l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&lt;</m:t>
                        </m:r>
                        <m:r>
                          <a:rPr lang="es-AR" sz="2800" b="0" i="1" u="none" strike="noStrike" baseline="0" dirty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</m:d>
                  </m:oMath>
                </a14:m>
                <a:endParaRPr lang="es-AR" sz="2800" b="0" i="1" u="none" strike="noStrike" baseline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 algn="l">
                  <a:spcAft>
                    <a:spcPts val="1800"/>
                  </a:spcAft>
                </a:pPr>
                <a:r>
                  <a:rPr lang="es-AR" sz="2800" b="0" u="none" strike="noStrike" baseline="0" dirty="0">
                    <a:solidFill>
                      <a:srgbClr val="000000"/>
                    </a:solidFill>
                  </a:rPr>
                  <a:t>    </a:t>
                </a: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)= 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 –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AR" sz="2800" b="0" i="1" u="none" strike="noStrike" baseline="0" dirty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AR" sz="2800" dirty="0">
                  <a:solidFill>
                    <a:srgbClr val="000000"/>
                  </a:solidFill>
                  <a:latin typeface="CMSS10"/>
                </a:endParaRPr>
              </a:p>
              <a:p>
                <a:pPr algn="l"/>
                <a:r>
                  <a:rPr lang="es-AR" sz="2800" b="1" i="1" u="none" strike="noStrike" baseline="0" dirty="0">
                    <a:solidFill>
                      <a:srgbClr val="000000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Para ambos tipos de variable: </a:t>
                </a:r>
                <a14:m>
                  <m:oMath xmlns:m="http://schemas.openxmlformats.org/officeDocument/2006/math">
                    <m:r>
                      <a:rPr lang="es-AR" sz="28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s-AR" sz="2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AR" sz="2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s-AR" sz="2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&gt;</m:t>
                        </m:r>
                        <m:r>
                          <a:rPr lang="es-AR" sz="2800" b="0" i="1" u="none" strike="noStrike" baseline="0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s-AR" sz="28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r>
                      <a:rPr lang="es-AR" sz="28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  <m:r>
                      <a:rPr lang="es-AR" sz="28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8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AR" sz="2800" b="0" i="1" u="none" strike="noStrike" baseline="0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AR" sz="2000" b="0" i="0" u="none" strike="noStrike" baseline="0" dirty="0">
                    <a:solidFill>
                      <a:srgbClr val="FFFFFF"/>
                    </a:solidFill>
                    <a:latin typeface="CMSSBX10"/>
                  </a:rPr>
                  <a:t>Lic. y</a:t>
                </a:r>
                <a:endParaRPr lang="es-AR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3" name="CuadroTexto 2">
                <a:extLst>
                  <a:ext uri="{FF2B5EF4-FFF2-40B4-BE49-F238E27FC236}">
                    <a16:creationId xmlns:a16="http://schemas.microsoft.com/office/drawing/2014/main" id="{AD5BBDF3-EA81-7942-A4E9-01E7E07CA8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14" y="814192"/>
                <a:ext cx="8790372" cy="5678478"/>
              </a:xfrm>
              <a:prstGeom prst="rect">
                <a:avLst/>
              </a:prstGeom>
              <a:blipFill>
                <a:blip r:embed="rId2"/>
                <a:stretch>
                  <a:fillRect l="-1387" t="-1074" b="-214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ítulo 3">
            <a:extLst>
              <a:ext uri="{FF2B5EF4-FFF2-40B4-BE49-F238E27FC236}">
                <a16:creationId xmlns:a16="http://schemas.microsoft.com/office/drawing/2014/main" id="{1B40EED4-2BE7-079C-6E87-116B8396C5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Función de Distribución Acumulada</a:t>
            </a:r>
          </a:p>
        </p:txBody>
      </p:sp>
    </p:spTree>
    <p:extLst>
      <p:ext uri="{BB962C8B-B14F-4D97-AF65-F5344CB8AC3E}">
        <p14:creationId xmlns:p14="http://schemas.microsoft.com/office/powerpoint/2010/main" val="142006005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 descr="Imagen que contiene Gráfico&#10;&#10;Descripción generada automáticamente">
            <a:extLst>
              <a:ext uri="{FF2B5EF4-FFF2-40B4-BE49-F238E27FC236}">
                <a16:creationId xmlns:a16="http://schemas.microsoft.com/office/drawing/2014/main" id="{8731028A-8E24-C8BD-D8FC-94BEFF1647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682" y="2506352"/>
            <a:ext cx="8712822" cy="2386228"/>
          </a:xfrm>
          <a:prstGeom prst="rect">
            <a:avLst/>
          </a:prstGeom>
        </p:spPr>
      </p:pic>
      <p:sp>
        <p:nvSpPr>
          <p:cNvPr id="3" name="Título 3">
            <a:extLst>
              <a:ext uri="{FF2B5EF4-FFF2-40B4-BE49-F238E27FC236}">
                <a16:creationId xmlns:a16="http://schemas.microsoft.com/office/drawing/2014/main" id="{75BE16D7-3D0D-E175-613D-12FEC268306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Función de Distribución Acumulada</a:t>
            </a:r>
          </a:p>
        </p:txBody>
      </p:sp>
    </p:spTree>
    <p:extLst>
      <p:ext uri="{BB962C8B-B14F-4D97-AF65-F5344CB8AC3E}">
        <p14:creationId xmlns:p14="http://schemas.microsoft.com/office/powerpoint/2010/main" val="4151245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3136F0BE-45C9-60CD-799E-B86475017B6C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Esperanza de una </a:t>
            </a:r>
            <a:r>
              <a:rPr lang="es-AR" dirty="0" err="1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v.a.</a:t>
            </a: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continua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7BCB5AF-FB7B-9B87-90F6-1B0CFC889B53}"/>
                  </a:ext>
                </a:extLst>
              </p:cNvPr>
              <p:cNvSpPr txBox="1"/>
              <p:nvPr/>
            </p:nvSpPr>
            <p:spPr>
              <a:xfrm>
                <a:off x="303756" y="2093645"/>
                <a:ext cx="8536487" cy="290136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marL="174625">
                  <a:spcAft>
                    <a:spcPts val="2400"/>
                  </a:spcAft>
                </a:pPr>
                <a:r>
                  <a:rPr lang="es-AR" sz="2800" kern="0" dirty="0">
                    <a:solidFill>
                      <a:srgbClr val="262524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Sea </a:t>
                </a:r>
                <a14:m>
                  <m:oMath xmlns:m="http://schemas.openxmlformats.org/officeDocument/2006/math">
                    <m:r>
                      <a:rPr lang="es-AR" sz="2800" i="1" kern="0" dirty="0" smtClean="0">
                        <a:solidFill>
                          <a:srgbClr val="262524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lang="es-AR" sz="2800" i="1" kern="0" dirty="0">
                    <a:solidFill>
                      <a:srgbClr val="262524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 </a:t>
                </a:r>
                <a:r>
                  <a:rPr lang="es-AR" sz="2800" kern="0" dirty="0">
                    <a:solidFill>
                      <a:srgbClr val="262524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una variable aleatoria continua con función de densidad de probabilidad </a:t>
                </a:r>
                <a14:m>
                  <m:oMath xmlns:m="http://schemas.openxmlformats.org/officeDocument/2006/math">
                    <m:r>
                      <a:rPr lang="es-AR" sz="2800" i="1" kern="0" dirty="0" smtClean="0">
                        <a:solidFill>
                          <a:srgbClr val="262524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𝑓</m:t>
                    </m:r>
                    <m:r>
                      <a:rPr lang="es-AR" sz="2800" i="1" kern="0" dirty="0" smtClean="0">
                        <a:solidFill>
                          <a:srgbClr val="262524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(</m:t>
                    </m:r>
                    <m:r>
                      <a:rPr lang="es-AR" sz="2800" i="1" kern="0" dirty="0" smtClean="0">
                        <a:solidFill>
                          <a:srgbClr val="262524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𝑥</m:t>
                    </m:r>
                    <m:r>
                      <a:rPr lang="es-AR" sz="2800" i="1" kern="0" dirty="0" smtClean="0">
                        <a:solidFill>
                          <a:srgbClr val="262524"/>
                        </a:solidFill>
                        <a:effectLst/>
                        <a:latin typeface="Cambria Math" panose="02040503050406030204" pitchFamily="18" charset="0"/>
                        <a:ea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es-AR" sz="2800" kern="0" dirty="0">
                    <a:solidFill>
                      <a:srgbClr val="262524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. El </a:t>
                </a:r>
                <a:r>
                  <a:rPr lang="es-AR" sz="2800" b="1" kern="0" dirty="0">
                    <a:solidFill>
                      <a:srgbClr val="262524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valor esperado o Esperanza </a:t>
                </a:r>
                <a:r>
                  <a:rPr lang="es-AR" sz="2800" kern="0" dirty="0">
                    <a:solidFill>
                      <a:srgbClr val="262524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de </a:t>
                </a:r>
                <a:r>
                  <a:rPr lang="es-AR" sz="2800" i="1" kern="0" dirty="0">
                    <a:solidFill>
                      <a:srgbClr val="262524"/>
                    </a:solidFill>
                    <a:effectLst/>
                    <a:latin typeface="Calibri" panose="020F0502020204030204" pitchFamily="34" charset="0"/>
                    <a:ea typeface="Times New Roman" panose="02020603050405020304" pitchFamily="18" charset="0"/>
                  </a:rPr>
                  <a:t>X </a:t>
                </a:r>
                <a:r>
                  <a:rPr lang="es-AR" sz="2800" kern="0" dirty="0">
                    <a:solidFill>
                      <a:srgbClr val="262524"/>
                    </a:solidFill>
                    <a:latin typeface="Calibri" panose="020F0502020204030204" pitchFamily="34" charset="0"/>
                    <a:ea typeface="Times New Roman" panose="02020603050405020304" pitchFamily="18" charset="0"/>
                  </a:rPr>
                  <a:t>se define como</a:t>
                </a:r>
                <a:endParaRPr lang="es-AR" sz="2800" dirty="0">
                  <a:effectLst/>
                  <a:latin typeface="Calibri" panose="020F0502020204030204" pitchFamily="34" charset="0"/>
                  <a:ea typeface="Aptos" panose="020B0004020202020204" pitchFamily="34" charset="0"/>
                </a:endParaRPr>
              </a:p>
              <a:p>
                <a:pPr marL="174625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b="0" i="1" u="none" strike="noStrike" baseline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𝐸</m:t>
                      </m:r>
                      <m:d>
                        <m:dPr>
                          <m:ctrlP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</m:e>
                      </m:d>
                      <m:r>
                        <a:rPr lang="es-AR" sz="2800" b="0" i="1" u="none" strike="noStrike" baseline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>
                        <m:sSubPr>
                          <m:ctrlP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Pr>
                        <m:e>
                          <m: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𝜇</m:t>
                          </m:r>
                        </m:e>
                        <m:sub>
                          <m:r>
                            <a:rPr lang="es-AR" sz="2800" b="0" i="1" u="none" strike="noStrike" baseline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</m:sub>
                      </m:sSub>
                      <m:r>
                        <a:rPr lang="es-AR" sz="2800" b="0" i="1" u="none" strike="noStrike" baseline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trlPr>
                            <a:rPr lang="es-A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s-A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−∞</m:t>
                          </m:r>
                        </m:sub>
                        <m:sup>
                          <m:r>
                            <a:rPr lang="es-A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∞</m:t>
                          </m:r>
                        </m:sup>
                        <m:e>
                          <m:r>
                            <a:rPr lang="es-AR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𝑥</m:t>
                          </m:r>
                          <m:r>
                            <a:rPr lang="es-AR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s-A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es-AR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s-AR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AR" sz="2800" b="0" i="1" kern="10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s-A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s-AR" sz="2800" dirty="0"/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77BCB5AF-FB7B-9B87-90F6-1B0CFC889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756" y="2093645"/>
                <a:ext cx="8536487" cy="290136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2921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75314F32-C125-F5CD-207C-9AF45562CF1D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1200"/>
              </a:spcBef>
            </a:pPr>
            <a:r>
              <a:rPr lang="es-AR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Varianza de una v.a. continua</a:t>
            </a:r>
            <a:endParaRPr lang="es-AR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BDE4833-A1ED-11CB-512B-E343F50CE28D}"/>
                  </a:ext>
                </a:extLst>
              </p:cNvPr>
              <p:cNvSpPr txBox="1"/>
              <p:nvPr/>
            </p:nvSpPr>
            <p:spPr>
              <a:xfrm>
                <a:off x="306887" y="2156025"/>
                <a:ext cx="8530225" cy="2816232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txBody>
              <a:bodyPr wrap="square">
                <a:spAutoFit/>
              </a:bodyPr>
              <a:lstStyle/>
              <a:p>
                <a:pPr algn="l">
                  <a:spcAft>
                    <a:spcPts val="1800"/>
                  </a:spcAft>
                </a:pP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Para una variable aleatoria continua X con una función de densidad de probabilidad </a:t>
                </a: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AR" sz="2800" b="0" i="1" u="none" strike="noStrike" baseline="0" dirty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y esperanza </a:t>
                </a:r>
                <a14:m>
                  <m:oMath xmlns:m="http://schemas.openxmlformats.org/officeDocument/2006/math">
                    <m:r>
                      <a:rPr lang="es-AR" sz="2800" b="0" i="1" u="none" strike="noStrike" baseline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la </a:t>
                </a:r>
                <a:r>
                  <a:rPr lang="es-AR" sz="2800" b="1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varianza</a:t>
                </a:r>
                <a:r>
                  <a:rPr lang="es-AR" sz="2800" b="0" i="0" u="none" strike="noStrike" baseline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se define como: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AR" sz="2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𝑉𝑎𝑟</m:t>
                      </m:r>
                      <m:d>
                        <m:dPr>
                          <m:ctrlPr>
                            <a:rPr lang="es-AR" sz="28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r>
                            <a:rPr lang="es-A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</m:e>
                      </m:d>
                      <m:r>
                        <a:rPr lang="es-AR" sz="2800" i="1" dirty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sSubSup>
                        <m:sSubSupPr>
                          <m:ctrlPr>
                            <a:rPr lang="es-AR" sz="280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sSubSupPr>
                        <m:e>
                          <m:r>
                            <a:rPr lang="es-AR" sz="280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𝜎</m:t>
                          </m:r>
                        </m:e>
                        <m:sub>
                          <m:r>
                            <a:rPr lang="es-A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𝑋</m:t>
                          </m:r>
                        </m:sub>
                        <m:sup>
                          <m:r>
                            <a:rPr lang="es-A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  <m:t>2</m:t>
                          </m:r>
                        </m:sup>
                      </m:sSubSup>
                      <m:r>
                        <a:rPr lang="es-AR" sz="28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r>
                        <a:rPr lang="es-AR" sz="28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𝐸</m:t>
                      </m:r>
                      <m:d>
                        <m:dPr>
                          <m:begChr m:val="["/>
                          <m:endChr m:val="]"/>
                          <m:ctrlPr>
                            <a:rPr lang="es-A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s-AR" sz="28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sz="2800" b="0" i="1" dirty="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800" b="0" i="1" dirty="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𝑋</m:t>
                                  </m:r>
                                  <m:r>
                                    <a:rPr lang="es-AR" sz="2800" b="0" i="1" dirty="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−</m:t>
                                  </m:r>
                                  <m:r>
                                    <a:rPr lang="es-AR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s-AR" sz="28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s-AR" sz="28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trlPr>
                            <a:rPr lang="es-A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</m:ctrlPr>
                        </m:naryPr>
                        <m:sub>
                          <m:r>
                            <a:rPr lang="es-A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−∞</m:t>
                          </m:r>
                        </m:sub>
                        <m:sup>
                          <m:r>
                            <a:rPr lang="es-A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s-AR" sz="28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s-AR" sz="2800" i="1" dirty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dPr>
                                <m:e>
                                  <m:r>
                                    <a:rPr lang="es-AR" sz="2800" i="1" dirty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𝑥</m:t>
                                  </m:r>
                                  <m:r>
                                    <a:rPr lang="es-AR" sz="2800" i="1" dirty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−</m:t>
                                  </m:r>
                                  <m:r>
                                    <a:rPr lang="es-AR" sz="280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𝜇</m:t>
                                  </m:r>
                                </m:e>
                              </m:d>
                            </m:e>
                            <m:sup>
                              <m:r>
                                <a:rPr lang="es-AR" sz="2800" i="1" dirty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2</m:t>
                              </m:r>
                            </m:sup>
                          </m:sSup>
                          <m:sSub>
                            <m:sSubPr>
                              <m:ctrlPr>
                                <a:rPr lang="es-AR" sz="280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sSubPr>
                            <m:e>
                              <m:r>
                                <a:rPr lang="es-AR" sz="28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lang="es-AR" sz="28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  <m:t>𝑋</m:t>
                              </m:r>
                            </m:sub>
                          </m:sSub>
                          <m:d>
                            <m:dPr>
                              <m:ctrlPr>
                                <a:rPr lang="es-AR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r>
                                <a:rPr lang="es-AR" sz="28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𝑥</m:t>
                              </m:r>
                            </m:e>
                          </m:d>
                          <m:r>
                            <a:rPr lang="es-A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 </m:t>
                          </m:r>
                          <m:r>
                            <a:rPr lang="es-AR" sz="28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libri" panose="020F0502020204030204" pitchFamily="34" charset="0"/>
                            </a:rPr>
                            <m:t>𝑑𝑥</m:t>
                          </m:r>
                        </m:e>
                      </m:nary>
                    </m:oMath>
                  </m:oMathPara>
                </a14:m>
                <a:endParaRPr lang="es-AR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5" name="CuadroTexto 4">
                <a:extLst>
                  <a:ext uri="{FF2B5EF4-FFF2-40B4-BE49-F238E27FC236}">
                    <a16:creationId xmlns:a16="http://schemas.microsoft.com/office/drawing/2014/main" id="{4BDE4833-A1ED-11CB-512B-E343F50CE2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6887" y="2156025"/>
                <a:ext cx="8530225" cy="2816232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88F13F1-A54D-4C23-D8C3-4A15AE839940}"/>
                  </a:ext>
                </a:extLst>
              </p:cNvPr>
              <p:cNvSpPr txBox="1"/>
              <p:nvPr/>
            </p:nvSpPr>
            <p:spPr>
              <a:xfrm>
                <a:off x="648183" y="5774519"/>
                <a:ext cx="7592992" cy="5395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Wingdings" panose="05000000000000000000" pitchFamily="2" charset="2"/>
                  <a:buChar char="ü"/>
                </a:pPr>
                <a14:m>
                  <m:oMath xmlns:m="http://schemas.openxmlformats.org/officeDocument/2006/math">
                    <m:r>
                      <a:rPr lang="es-AR" sz="24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𝐷𝐸</m:t>
                    </m:r>
                    <m:d>
                      <m:dPr>
                        <m:ctrlPr>
                          <a:rPr lang="es-AR" sz="24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dPr>
                      <m:e>
                        <m:r>
                          <a:rPr lang="es-A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𝑋</m:t>
                        </m:r>
                      </m:e>
                    </m:d>
                    <m:r>
                      <a:rPr lang="es-AR" sz="24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sSub>
                      <m:sSubPr>
                        <m:ctrlPr>
                          <a:rPr lang="es-AR" sz="24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es-AR" sz="240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𝜎</m:t>
                        </m:r>
                      </m:e>
                      <m:sub>
                        <m:r>
                          <a:rPr lang="es-A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𝑋</m:t>
                        </m:r>
                      </m:sub>
                    </m:sSub>
                    <m:r>
                      <a:rPr lang="es-AR" sz="24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s-A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radPr>
                      <m:deg/>
                      <m:e>
                        <m:r>
                          <a:rPr lang="es-A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𝑉𝑎𝑟</m:t>
                        </m:r>
                        <m:r>
                          <a:rPr lang="es-A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(</m:t>
                        </m:r>
                        <m:r>
                          <a:rPr lang="es-A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𝑋</m:t>
                        </m:r>
                        <m:r>
                          <a:rPr lang="es-A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)</m:t>
                        </m:r>
                      </m:e>
                    </m:rad>
                  </m:oMath>
                </a14:m>
                <a:r>
                  <a:rPr lang="es-A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para </a:t>
                </a:r>
                <a:r>
                  <a:rPr lang="es-AR" sz="2400" dirty="0" err="1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v.a.</a:t>
                </a:r>
                <a:r>
                  <a:rPr lang="es-A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Discretas y Continuas</a:t>
                </a:r>
              </a:p>
            </p:txBody>
          </p:sp>
        </mc:Choice>
        <mc:Fallback xmlns="">
          <p:sp>
            <p:nvSpPr>
              <p:cNvPr id="4" name="CuadroTexto 3">
                <a:extLst>
                  <a:ext uri="{FF2B5EF4-FFF2-40B4-BE49-F238E27FC236}">
                    <a16:creationId xmlns:a16="http://schemas.microsoft.com/office/drawing/2014/main" id="{A88F13F1-A54D-4C23-D8C3-4A15AE8399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183" y="5774519"/>
                <a:ext cx="7592992" cy="539571"/>
              </a:xfrm>
              <a:prstGeom prst="rect">
                <a:avLst/>
              </a:prstGeom>
              <a:blipFill>
                <a:blip r:embed="rId3"/>
                <a:stretch>
                  <a:fillRect r="-161" b="-21348"/>
                </a:stretch>
              </a:blipFill>
            </p:spPr>
            <p:txBody>
              <a:bodyPr/>
              <a:lstStyle/>
              <a:p>
                <a:r>
                  <a:rPr lang="es-A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4778197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3">
            <a:extLst>
              <a:ext uri="{FF2B5EF4-FFF2-40B4-BE49-F238E27FC236}">
                <a16:creationId xmlns:a16="http://schemas.microsoft.com/office/drawing/2014/main" id="{93D6ADB9-63E4-7AF2-E57B-283ED5B05DCB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9144000" cy="814192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4625">
              <a:lnSpc>
                <a:spcPct val="100000"/>
              </a:lnSpc>
              <a:spcBef>
                <a:spcPts val="1200"/>
              </a:spcBef>
            </a:pPr>
            <a:r>
              <a:rPr lang="es-AR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Bibliografía unidad 2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2FD6F10-D4E9-A441-500B-845C1C00063E}"/>
              </a:ext>
            </a:extLst>
          </p:cNvPr>
          <p:cNvSpPr txBox="1"/>
          <p:nvPr/>
        </p:nvSpPr>
        <p:spPr>
          <a:xfrm>
            <a:off x="182880" y="1505396"/>
            <a:ext cx="8778239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AR" sz="2800" dirty="0">
                <a:solidFill>
                  <a:srgbClr val="000000"/>
                </a:solidFill>
              </a:rPr>
              <a:t>Devore, J. (2012). Probabilidad y Estadística para Ingeniería y Ciencias. 8va. Ed. Cengage </a:t>
            </a:r>
            <a:r>
              <a:rPr lang="es-AR" sz="2800" dirty="0" err="1">
                <a:solidFill>
                  <a:srgbClr val="000000"/>
                </a:solidFill>
              </a:rPr>
              <a:t>Learning</a:t>
            </a:r>
            <a:r>
              <a:rPr lang="es-AR" sz="2800" dirty="0">
                <a:solidFill>
                  <a:srgbClr val="000000"/>
                </a:solidFill>
              </a:rPr>
              <a:t> </a:t>
            </a:r>
            <a:r>
              <a:rPr lang="es-AR" sz="2800" dirty="0" err="1">
                <a:solidFill>
                  <a:srgbClr val="000000"/>
                </a:solidFill>
              </a:rPr>
              <a:t>editors</a:t>
            </a:r>
            <a:r>
              <a:rPr lang="es-AR" sz="2800" dirty="0">
                <a:solidFill>
                  <a:srgbClr val="000000"/>
                </a:solidFill>
              </a:rPr>
              <a:t>, México.</a:t>
            </a:r>
            <a:r>
              <a:rPr lang="es-AR" sz="2800" dirty="0">
                <a:solidFill>
                  <a:srgbClr val="FFFFFF"/>
                </a:solidFill>
              </a:rPr>
              <a:t>.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s-AR" sz="2800" dirty="0">
                <a:solidFill>
                  <a:srgbClr val="000000"/>
                </a:solidFill>
              </a:rPr>
              <a:t>Di </a:t>
            </a:r>
            <a:r>
              <a:rPr lang="es-AR" sz="2800" dirty="0" err="1">
                <a:solidFill>
                  <a:srgbClr val="000000"/>
                </a:solidFill>
              </a:rPr>
              <a:t>Rienzo</a:t>
            </a:r>
            <a:r>
              <a:rPr lang="es-AR" sz="2800" dirty="0">
                <a:solidFill>
                  <a:srgbClr val="000000"/>
                </a:solidFill>
              </a:rPr>
              <a:t> et al. Estadística para las ciencias Agropecuarias. 6ta </a:t>
            </a:r>
            <a:r>
              <a:rPr lang="es-AR" sz="2800" dirty="0" err="1">
                <a:solidFill>
                  <a:srgbClr val="000000"/>
                </a:solidFill>
              </a:rPr>
              <a:t>ed</a:t>
            </a:r>
            <a:r>
              <a:rPr lang="es-AR" sz="2800" dirty="0">
                <a:solidFill>
                  <a:srgbClr val="000000"/>
                </a:solidFill>
              </a:rPr>
              <a:t>(versión digital)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000000"/>
                </a:solidFill>
              </a:rPr>
              <a:t>Walpole, Myers, Myers &amp; Ye (2012) </a:t>
            </a:r>
            <a:r>
              <a:rPr lang="es-AR" sz="2800" dirty="0">
                <a:solidFill>
                  <a:srgbClr val="000000"/>
                </a:solidFill>
              </a:rPr>
              <a:t>Probabilidad y estadística para ingeniería y ciencias. 9na edición. Pearson Educación. México</a:t>
            </a:r>
          </a:p>
        </p:txBody>
      </p:sp>
    </p:spTree>
    <p:extLst>
      <p:ext uri="{BB962C8B-B14F-4D97-AF65-F5344CB8AC3E}">
        <p14:creationId xmlns:p14="http://schemas.microsoft.com/office/powerpoint/2010/main" val="2230011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Verde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598</TotalTime>
  <Words>1959</Words>
  <Application>Microsoft Office PowerPoint</Application>
  <PresentationFormat>Presentación en pantalla (4:3)</PresentationFormat>
  <Paragraphs>204</Paragraphs>
  <Slides>27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36" baseType="lpstr">
      <vt:lpstr>Aptos</vt:lpstr>
      <vt:lpstr>Aptos Display</vt:lpstr>
      <vt:lpstr>Arial</vt:lpstr>
      <vt:lpstr>Calibri</vt:lpstr>
      <vt:lpstr>Cambria Math</vt:lpstr>
      <vt:lpstr>CMSS10</vt:lpstr>
      <vt:lpstr>CMSSBX10</vt:lpstr>
      <vt:lpstr>Wingdings</vt:lpstr>
      <vt:lpstr>Tema de Office</vt:lpstr>
      <vt:lpstr>Unidad 2 Probabilidad y Variables Aleatorias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Cecilia Ferrero</dc:creator>
  <cp:lastModifiedBy>Cecilia Ferrero</cp:lastModifiedBy>
  <cp:revision>1</cp:revision>
  <dcterms:created xsi:type="dcterms:W3CDTF">2025-03-26T22:04:52Z</dcterms:created>
  <dcterms:modified xsi:type="dcterms:W3CDTF">2025-09-01T19:41:28Z</dcterms:modified>
</cp:coreProperties>
</file>