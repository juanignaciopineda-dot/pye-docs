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6" r:id="rId10"/>
    <p:sldId id="264" r:id="rId11"/>
    <p:sldId id="265" r:id="rId12"/>
    <p:sldId id="268" r:id="rId13"/>
    <p:sldId id="267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294" autoAdjust="0"/>
    <p:restoredTop sz="94660"/>
  </p:normalViewPr>
  <p:slideViewPr>
    <p:cSldViewPr>
      <p:cViewPr varScale="1">
        <p:scale>
          <a:sx n="59" d="100"/>
          <a:sy n="59" d="100"/>
        </p:scale>
        <p:origin x="107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Hoja1!$B$2:$B$11</c:f>
              <c:numCache>
                <c:formatCode>General</c:formatCode>
                <c:ptCount val="10"/>
                <c:pt idx="0">
                  <c:v>14</c:v>
                </c:pt>
                <c:pt idx="1">
                  <c:v>8</c:v>
                </c:pt>
                <c:pt idx="2">
                  <c:v>16</c:v>
                </c:pt>
                <c:pt idx="3">
                  <c:v>8</c:v>
                </c:pt>
                <c:pt idx="4">
                  <c:v>14</c:v>
                </c:pt>
                <c:pt idx="5">
                  <c:v>10</c:v>
                </c:pt>
                <c:pt idx="6">
                  <c:v>16</c:v>
                </c:pt>
                <c:pt idx="7">
                  <c:v>12</c:v>
                </c:pt>
                <c:pt idx="8">
                  <c:v>10</c:v>
                </c:pt>
                <c:pt idx="9">
                  <c:v>12</c:v>
                </c:pt>
              </c:numCache>
            </c:numRef>
          </c:xVal>
          <c:yVal>
            <c:numRef>
              <c:f>Hoja1!$C$2:$C$11</c:f>
              <c:numCache>
                <c:formatCode>General</c:formatCode>
                <c:ptCount val="10"/>
                <c:pt idx="0">
                  <c:v>55</c:v>
                </c:pt>
                <c:pt idx="1">
                  <c:v>38</c:v>
                </c:pt>
                <c:pt idx="2">
                  <c:v>50</c:v>
                </c:pt>
                <c:pt idx="3">
                  <c:v>46</c:v>
                </c:pt>
                <c:pt idx="4">
                  <c:v>47</c:v>
                </c:pt>
                <c:pt idx="5">
                  <c:v>49</c:v>
                </c:pt>
                <c:pt idx="6">
                  <c:v>58</c:v>
                </c:pt>
                <c:pt idx="7">
                  <c:v>52</c:v>
                </c:pt>
                <c:pt idx="8">
                  <c:v>41</c:v>
                </c:pt>
                <c:pt idx="9">
                  <c:v>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D3-4851-8009-7A045810A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492800"/>
        <c:axId val="162494720"/>
      </c:scatterChart>
      <c:valAx>
        <c:axId val="162492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94720"/>
        <c:crosses val="autoZero"/>
        <c:crossBetween val="midCat"/>
      </c:valAx>
      <c:valAx>
        <c:axId val="162494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928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8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5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2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1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4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2171700"/>
            <a:ext cx="5101596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0" y="4693921"/>
            <a:ext cx="5101595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9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8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4609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7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62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2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5601" y="5656761"/>
            <a:ext cx="10919474" cy="51326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916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4686302"/>
            <a:ext cx="13238490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16607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94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87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61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61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4528"/>
            <a:ext cx="6055518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08817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145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590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061237"/>
            <a:ext cx="835660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47440" algn="l"/>
              </a:tabLst>
            </a:pPr>
            <a:r>
              <a:rPr lang="es-MX" sz="2800" spc="755" dirty="0" smtClean="0">
                <a:solidFill>
                  <a:srgbClr val="FDFDFD"/>
                </a:solidFill>
                <a:latin typeface="Lucida Sans Unicode"/>
                <a:cs typeface="Lucida Sans Unicode"/>
              </a:rPr>
              <a:t>UNIDAD N° 6:</a:t>
            </a: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4683544"/>
            <a:ext cx="15316200" cy="5603456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 marR="5080" algn="r">
              <a:lnSpc>
                <a:spcPts val="13880"/>
              </a:lnSpc>
              <a:spcBef>
                <a:spcPts val="994"/>
              </a:spcBef>
            </a:pPr>
            <a:r>
              <a:rPr lang="es-MX" sz="12000" b="1" spc="1105" dirty="0" smtClean="0">
                <a:solidFill>
                  <a:srgbClr val="FDFDFD"/>
                </a:solidFill>
                <a:latin typeface="Calibri"/>
                <a:cs typeface="Calibri"/>
              </a:rPr>
              <a:t>REGRESIÓN Y CORRELACIÓN</a:t>
            </a:r>
          </a:p>
          <a:p>
            <a:pPr marL="12700" marR="5080" algn="r">
              <a:lnSpc>
                <a:spcPts val="13880"/>
              </a:lnSpc>
              <a:spcBef>
                <a:spcPts val="994"/>
              </a:spcBef>
            </a:pPr>
            <a:r>
              <a:rPr lang="es-MX" sz="6600" b="1" spc="1105" dirty="0" smtClean="0">
                <a:solidFill>
                  <a:srgbClr val="FDFDFD"/>
                </a:solidFill>
                <a:latin typeface="Calibri"/>
                <a:cs typeface="Calibri"/>
              </a:rPr>
              <a:t>Resolución de ejercicios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524000" y="876300"/>
            <a:ext cx="1066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</a:rPr>
              <a:t>RESOLUCIÓN EJERCICIO N° 1 – UNIDAD 6</a:t>
            </a:r>
            <a:endParaRPr lang="es-AR" sz="4400" dirty="0">
              <a:solidFill>
                <a:schemeClr val="bg1"/>
              </a:solidFill>
            </a:endParaRP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330035"/>
              </p:ext>
            </p:extLst>
          </p:nvPr>
        </p:nvGraphicFramePr>
        <p:xfrm>
          <a:off x="1559168" y="3924300"/>
          <a:ext cx="5832231" cy="52578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1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X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Y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14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55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8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38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16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50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8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46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14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47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10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49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16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58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12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52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10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41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>
                          <a:effectLst/>
                        </a:rPr>
                        <a:t>12</a:t>
                      </a:r>
                      <a:endParaRPr lang="es-AR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800" dirty="0">
                          <a:effectLst/>
                        </a:rPr>
                        <a:t>44</a:t>
                      </a:r>
                      <a:endParaRPr lang="es-AR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7 Rectángulo redondeado"/>
          <p:cNvSpPr/>
          <p:nvPr/>
        </p:nvSpPr>
        <p:spPr>
          <a:xfrm>
            <a:off x="1676400" y="2324100"/>
            <a:ext cx="48768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MX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X = tiempo de aplicación de pintura (</a:t>
            </a:r>
            <a:r>
              <a:rPr lang="es-MX" dirty="0" err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seg</a:t>
            </a:r>
            <a:r>
              <a:rPr lang="es-MX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)</a:t>
            </a:r>
            <a:endParaRPr lang="es-AR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Y = espesor de la capa de pintura (en micrones)</a:t>
            </a:r>
            <a:endParaRPr lang="es-AR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9829800" y="1647092"/>
            <a:ext cx="55626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200" dirty="0"/>
              <a:t> </a:t>
            </a:r>
            <a:r>
              <a:rPr lang="es-MX" sz="3200" dirty="0" smtClean="0"/>
              <a:t>a) Diagrama </a:t>
            </a:r>
            <a:r>
              <a:rPr lang="es-MX" sz="3200" dirty="0"/>
              <a:t>de Dispersión:</a:t>
            </a:r>
            <a:endParaRPr lang="es-AR" sz="3200" dirty="0"/>
          </a:p>
        </p:txBody>
      </p:sp>
      <p:graphicFrame>
        <p:nvGraphicFramePr>
          <p:cNvPr id="10" name="9 Gráfico"/>
          <p:cNvGraphicFramePr/>
          <p:nvPr>
            <p:extLst>
              <p:ext uri="{D42A27DB-BD31-4B8C-83A1-F6EECF244321}">
                <p14:modId xmlns:p14="http://schemas.microsoft.com/office/powerpoint/2010/main" val="244065997"/>
              </p:ext>
            </p:extLst>
          </p:nvPr>
        </p:nvGraphicFramePr>
        <p:xfrm>
          <a:off x="8153400" y="2781300"/>
          <a:ext cx="4572000" cy="396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10 Imagen"/>
          <p:cNvPicPr/>
          <p:nvPr/>
        </p:nvPicPr>
        <p:blipFill rotWithShape="1">
          <a:blip r:embed="rId3"/>
          <a:srcRect l="37339" t="35620" r="36015" b="27852"/>
          <a:stretch/>
        </p:blipFill>
        <p:spPr bwMode="auto">
          <a:xfrm>
            <a:off x="12801600" y="4229100"/>
            <a:ext cx="5181600" cy="4800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1323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295400" y="571500"/>
            <a:ext cx="6629400" cy="2362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AR" sz="2800" dirty="0" smtClean="0"/>
              <a:t>b) </a:t>
            </a:r>
            <a:r>
              <a:rPr lang="es-MX" sz="2800" dirty="0"/>
              <a:t>Estime la pendiente, la ordenada al origen </a:t>
            </a:r>
            <a:r>
              <a:rPr lang="es-MX" sz="2800" strike="sngStrike" dirty="0"/>
              <a:t>y la varianza residual</a:t>
            </a:r>
            <a:r>
              <a:rPr lang="es-MX" sz="2800" dirty="0"/>
              <a:t>, para un modelo de regresión lineal con ordenada al origen diferente de cero</a:t>
            </a:r>
            <a:endParaRPr lang="es-AR" sz="2800" dirty="0"/>
          </a:p>
          <a:p>
            <a:pPr algn="ctr"/>
            <a:endParaRPr lang="es-AR" dirty="0"/>
          </a:p>
        </p:txBody>
      </p:sp>
      <p:sp>
        <p:nvSpPr>
          <p:cNvPr id="5" name="4 Rectángulo"/>
          <p:cNvSpPr/>
          <p:nvPr/>
        </p:nvSpPr>
        <p:spPr>
          <a:xfrm>
            <a:off x="1295400" y="3162300"/>
            <a:ext cx="8534400" cy="60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62127"/>
              </p:ext>
            </p:extLst>
          </p:nvPr>
        </p:nvGraphicFramePr>
        <p:xfrm>
          <a:off x="1600200" y="4457699"/>
          <a:ext cx="7772400" cy="44958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</a:rPr>
                        <a:t>X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Y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X^2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Y^2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 * Y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</a:rPr>
                        <a:t>14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</a:rPr>
                        <a:t>55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196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3025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770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8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38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1444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304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50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256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2500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800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8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46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2116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368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47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196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2209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658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49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100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2401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490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58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256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3364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928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12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52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2704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624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41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100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1681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410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AR" sz="110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12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>
                          <a:effectLst/>
                        </a:rPr>
                        <a:t>44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144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1936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528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2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Totales:</a:t>
                      </a:r>
                      <a:endParaRPr lang="es-A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480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1520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23380</a:t>
                      </a:r>
                      <a:endParaRPr lang="es-AR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5880</a:t>
                      </a:r>
                      <a:endParaRPr lang="es-AR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600200" y="3356401"/>
            <a:ext cx="83989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Para eso, si lo hacemos a mano, conviene completar las siguientes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columnas</a:t>
            </a:r>
            <a:r>
              <a:rPr kumimoji="0" lang="es-MX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:</a:t>
            </a:r>
            <a:endParaRPr kumimoji="0" lang="es-A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Rectángulo redondeado"/>
              <p:cNvSpPr/>
              <p:nvPr/>
            </p:nvSpPr>
            <p:spPr>
              <a:xfrm>
                <a:off x="9999166" y="4991100"/>
                <a:ext cx="7772400" cy="13716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MX" sz="3200" dirty="0"/>
                  <a:t>Algunas cuentas previas: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MX" sz="3200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MX" sz="3200" dirty="0"/>
                  <a:t> =  12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MX" sz="3200" i="1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MX" sz="3200" dirty="0"/>
                  <a:t> =  48         </a:t>
                </a:r>
                <a:r>
                  <a:rPr lang="es-MX" sz="3200" dirty="0" err="1"/>
                  <a:t>Sx</a:t>
                </a:r>
                <a:r>
                  <a:rPr lang="es-MX" sz="3200" dirty="0"/>
                  <a:t> = 2,98       </a:t>
                </a:r>
                <a:r>
                  <a:rPr lang="es-MX" sz="3200" dirty="0" err="1"/>
                  <a:t>Sy</a:t>
                </a:r>
                <a:r>
                  <a:rPr lang="es-MX" sz="3200" dirty="0"/>
                  <a:t>  =  6,14</a:t>
                </a:r>
                <a:endParaRPr lang="es-AR" sz="3200" dirty="0"/>
              </a:p>
            </p:txBody>
          </p:sp>
        </mc:Choice>
        <mc:Fallback xmlns="">
          <p:sp>
            <p:nvSpPr>
              <p:cNvPr id="8" name="7 Rectángulo redondead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166" y="4991100"/>
                <a:ext cx="7772400" cy="1371600"/>
              </a:xfrm>
              <a:prstGeom prst="roundRect">
                <a:avLst/>
              </a:prstGeom>
              <a:blipFill rotWithShape="1">
                <a:blip r:embed="rId2"/>
                <a:stretch>
                  <a:fillRect l="-938" r="-9304" b="-262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7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209800" y="15240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7 Rectángulo redondeado"/>
          <p:cNvSpPr/>
          <p:nvPr/>
        </p:nvSpPr>
        <p:spPr>
          <a:xfrm>
            <a:off x="14407650" y="3784718"/>
            <a:ext cx="3346950" cy="25017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800" dirty="0">
                <a:effectLst/>
                <a:ea typeface="Calibri"/>
                <a:cs typeface="Times New Roman"/>
              </a:rPr>
              <a:t>Ojo que los denominadores están simplificados!!!</a:t>
            </a:r>
            <a:endParaRPr lang="es-AR" sz="2800" dirty="0"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9296400" y="4339804"/>
            <a:ext cx="5329237" cy="3464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H="1" flipV="1">
            <a:off x="9067800" y="5035609"/>
            <a:ext cx="5645760" cy="765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676774" y="2455007"/>
            <a:ext cx="13730875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sz="3600" b="0" i="1" u="none" strike="noStrike" cap="none" normalizeH="0" baseline="0" dirty="0" smtClean="0">
                <a:ln>
                  <a:noFill/>
                </a:ln>
                <a:effectLst/>
                <a:latin typeface="Cambria Math" pitchFamily="18" charset="0"/>
                <a:ea typeface="Calibri" pitchFamily="34" charset="0"/>
                <a:cs typeface="Times New Roman" pitchFamily="18" charset="0"/>
              </a:rPr>
              <a:t>Y</a:t>
            </a:r>
            <a:r>
              <a:rPr kumimoji="0" lang="es-MX" sz="3600" b="0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=  a + b * X          por lo tanto, por el método de los mínimos cuadrados</a:t>
            </a:r>
            <a:r>
              <a:rPr kumimoji="0" lang="es-MX" sz="2000" b="0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:</a:t>
            </a:r>
            <a:endParaRPr kumimoji="0" lang="es-AR" sz="20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912812" y="1023313"/>
            <a:ext cx="6629400" cy="9959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Veamos Fórmulas</a:t>
            </a:r>
            <a:endParaRPr lang="es-A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4 Rectángulo"/>
              <p:cNvSpPr/>
              <p:nvPr/>
            </p:nvSpPr>
            <p:spPr>
              <a:xfrm>
                <a:off x="793732" y="4312694"/>
                <a:ext cx="12236468" cy="974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sz="3600" dirty="0" smtClean="0">
                    <a:solidFill>
                      <a:schemeClr val="tx1"/>
                    </a:solidFill>
                  </a:rPr>
                  <a:t>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𝐶𝑜𝑣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chemeClr val="tx1"/>
                    </a:solidFill>
                  </a:rPr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𝛴</m:t>
                            </m:r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∗</m:t>
                            </m:r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–</m:t>
                            </m:r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∗</m:t>
                            </m:r>
                            <m:acc>
                              <m:accPr>
                                <m:chr m:val="̅"/>
                                <m:ctrlPr>
                                  <a:rPr lang="es-AR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∗</m:t>
                            </m:r>
                            <m:acc>
                              <m:accPr>
                                <m:chr m:val="̅"/>
                                <m:ctrlPr>
                                  <a:rPr lang="es-AR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𝛴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sSup>
                          <m:sSup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  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∗</m:t>
                        </m:r>
                        <m:acc>
                          <m:accPr>
                            <m:chr m:val="̅"/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s-AR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den>
                    </m:f>
                  </m:oMath>
                </a14:m>
                <a:r>
                  <a:rPr lang="en-US" sz="3600" dirty="0">
                    <a:solidFill>
                      <a:schemeClr val="tx1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5880 −( 10∗12∗48)</m:t>
                        </m:r>
                      </m:num>
                      <m:den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1520 −  (10∗</m:t>
                        </m:r>
                        <m:sSup>
                          <m:sSup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12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chemeClr val="tx1"/>
                    </a:solidFill>
                  </a:rPr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120</m:t>
                        </m:r>
                      </m:num>
                      <m:den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chemeClr val="bg1"/>
                    </a:solidFill>
                  </a:rPr>
                  <a:t>  </a:t>
                </a:r>
                <a:r>
                  <a:rPr lang="en-US" sz="3600" dirty="0"/>
                  <a:t>= 1,5</a:t>
                </a:r>
                <a:endParaRPr lang="es-AR" sz="3600" dirty="0"/>
              </a:p>
            </p:txBody>
          </p:sp>
        </mc:Choice>
        <mc:Fallback xmlns="">
          <p:sp>
            <p:nvSpPr>
              <p:cNvPr id="15" name="1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32" y="4312694"/>
                <a:ext cx="12236468" cy="974819"/>
              </a:xfrm>
              <a:prstGeom prst="rect">
                <a:avLst/>
              </a:prstGeom>
              <a:blipFill>
                <a:blip r:embed="rId2"/>
                <a:stretch>
                  <a:fillRect l="-448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Rectángulo"/>
              <p:cNvSpPr/>
              <p:nvPr/>
            </p:nvSpPr>
            <p:spPr>
              <a:xfrm>
                <a:off x="901088" y="6101834"/>
                <a:ext cx="961451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dirty="0" smtClean="0">
                    <a:solidFill>
                      <a:schemeClr val="bg1"/>
                    </a:solidFill>
                  </a:rPr>
                  <a:t> </a:t>
                </a:r>
                <a:r>
                  <a:rPr lang="es-MX" sz="3600" dirty="0" smtClean="0">
                    <a:solidFill>
                      <a:schemeClr val="tx1"/>
                    </a:solidFill>
                  </a:rPr>
                  <a:t>a =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MX" sz="3600" dirty="0">
                    <a:solidFill>
                      <a:schemeClr val="tx1"/>
                    </a:solidFill>
                  </a:rPr>
                  <a:t> – b*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MX" sz="3600" dirty="0">
                    <a:solidFill>
                      <a:schemeClr val="tx1"/>
                    </a:solidFill>
                  </a:rPr>
                  <a:t>   =  48  -  ( 1,5  *  12)   =  </a:t>
                </a:r>
                <a:r>
                  <a:rPr lang="es-MX" sz="3600" dirty="0" smtClean="0">
                    <a:solidFill>
                      <a:schemeClr val="tx1"/>
                    </a:solidFill>
                  </a:rPr>
                  <a:t>30</a:t>
                </a:r>
                <a:endParaRPr lang="es-A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1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88" y="6101834"/>
                <a:ext cx="9614511" cy="646331"/>
              </a:xfrm>
              <a:prstGeom prst="rect">
                <a:avLst/>
              </a:prstGeom>
              <a:blipFill>
                <a:blip r:embed="rId3"/>
                <a:stretch>
                  <a:fillRect l="-63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Rectángulo"/>
              <p:cNvSpPr/>
              <p:nvPr/>
            </p:nvSpPr>
            <p:spPr>
              <a:xfrm>
                <a:off x="1060646" y="7886700"/>
                <a:ext cx="6102153" cy="724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MX" sz="4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MX" sz="4000" dirty="0">
                    <a:solidFill>
                      <a:schemeClr val="tx1"/>
                    </a:solidFill>
                  </a:rPr>
                  <a:t> =  30 + 1,5 * X</a:t>
                </a:r>
                <a:endParaRPr lang="es-AR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1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46" y="7886700"/>
                <a:ext cx="6102153" cy="724494"/>
              </a:xfrm>
              <a:prstGeom prst="rect">
                <a:avLst/>
              </a:prstGeom>
              <a:blipFill>
                <a:blip r:embed="rId4"/>
                <a:stretch>
                  <a:fillRect t="-13445" b="-34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19 Rectángulo redondeado"/>
          <p:cNvSpPr/>
          <p:nvPr/>
        </p:nvSpPr>
        <p:spPr>
          <a:xfrm>
            <a:off x="6629400" y="7658100"/>
            <a:ext cx="7778249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/>
              <a:t>es decir, que el espesor mínimo es de 30 micrones y aumenta 1,5 micrones </a:t>
            </a:r>
            <a:r>
              <a:rPr lang="es-MX" sz="2800" dirty="0" smtClean="0"/>
              <a:t>por </a:t>
            </a:r>
            <a:r>
              <a:rPr lang="es-MX" sz="2800" dirty="0"/>
              <a:t>segundo de pintura</a:t>
            </a:r>
            <a:r>
              <a:rPr lang="es-MX" dirty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7622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838200" y="3467100"/>
            <a:ext cx="8534400" cy="2068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200" dirty="0"/>
              <a:t> </a:t>
            </a:r>
            <a:r>
              <a:rPr lang="es-MX" sz="3200" dirty="0" smtClean="0"/>
              <a:t>c)    Y </a:t>
            </a:r>
            <a:r>
              <a:rPr lang="es-MX" sz="3200" dirty="0"/>
              <a:t>(X = 11) =   ¿?</a:t>
            </a:r>
            <a:endParaRPr lang="es-AR" sz="3200" dirty="0"/>
          </a:p>
          <a:p>
            <a:r>
              <a:rPr lang="es-MX" sz="3200" dirty="0"/>
              <a:t>Y  =  30 + 1,5 * 11  =  46,5 micrones</a:t>
            </a:r>
            <a:endParaRPr lang="es-AR" sz="3200" dirty="0"/>
          </a:p>
        </p:txBody>
      </p:sp>
      <p:sp>
        <p:nvSpPr>
          <p:cNvPr id="7" name="6 Rectángulo redondeado"/>
          <p:cNvSpPr/>
          <p:nvPr/>
        </p:nvSpPr>
        <p:spPr>
          <a:xfrm>
            <a:off x="4495800" y="6210300"/>
            <a:ext cx="10515600" cy="207817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highlight>
                  <a:srgbClr val="FFFF00"/>
                </a:highlight>
                <a:ea typeface="Calibri"/>
                <a:cs typeface="Times New Roman"/>
              </a:rPr>
              <a:t>Para poder utilizar la función para</a:t>
            </a:r>
            <a:r>
              <a:rPr lang="es-MX" sz="3200" dirty="0">
                <a:effectLst/>
                <a:ea typeface="Calibri"/>
                <a:cs typeface="Times New Roman"/>
              </a:rPr>
              <a:t> inferir, primero debemos estar </a:t>
            </a:r>
            <a:r>
              <a:rPr lang="es-MX" sz="3200" dirty="0" smtClean="0">
                <a:effectLst/>
                <a:ea typeface="Calibri"/>
                <a:cs typeface="Times New Roman"/>
              </a:rPr>
              <a:t>seguro </a:t>
            </a:r>
            <a:r>
              <a:rPr lang="es-MX" sz="3200" dirty="0">
                <a:effectLst/>
                <a:ea typeface="Calibri"/>
                <a:cs typeface="Times New Roman"/>
              </a:rPr>
              <a:t>de su utilidad!!!</a:t>
            </a:r>
            <a:endParaRPr lang="es-AR" sz="3200" dirty="0">
              <a:effectLst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1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075054" y="571500"/>
            <a:ext cx="11040745" cy="17526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dirty="0" smtClean="0"/>
              <a:t>e) Determine </a:t>
            </a:r>
            <a:r>
              <a:rPr lang="es-MX" sz="3600" dirty="0"/>
              <a:t>los coeficientes de correlación y de determinación</a:t>
            </a:r>
            <a:endParaRPr lang="es-A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1371600" y="3314700"/>
                <a:ext cx="6553200" cy="972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MX" sz="3600" dirty="0" smtClean="0">
                    <a:solidFill>
                      <a:schemeClr val="tx1"/>
                    </a:solidFill>
                  </a:rPr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𝐶𝑜𝑣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(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𝑆𝑥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∗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𝑆𝑦</m:t>
                        </m:r>
                      </m:den>
                    </m:f>
                  </m:oMath>
                </a14:m>
                <a:r>
                  <a:rPr lang="es-MX" sz="3600" dirty="0">
                    <a:solidFill>
                      <a:schemeClr val="tx1"/>
                    </a:solidFill>
                  </a:rPr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120 /8</m:t>
                        </m:r>
                      </m:num>
                      <m:den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2,98∗  6,14</m:t>
                        </m:r>
                      </m:den>
                    </m:f>
                  </m:oMath>
                </a14:m>
                <a:r>
                  <a:rPr lang="es-MX" sz="3600" dirty="0">
                    <a:solidFill>
                      <a:schemeClr val="tx1"/>
                    </a:solidFill>
                  </a:rPr>
                  <a:t>  =  0,82 </a:t>
                </a:r>
                <a:endParaRPr lang="es-A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314700"/>
                <a:ext cx="6553200" cy="972189"/>
              </a:xfrm>
              <a:prstGeom prst="rect">
                <a:avLst/>
              </a:prstGeom>
              <a:blipFill>
                <a:blip r:embed="rId2"/>
                <a:stretch>
                  <a:fillRect l="-2791" r="-1581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Rectángulo redondeado"/>
          <p:cNvSpPr/>
          <p:nvPr/>
        </p:nvSpPr>
        <p:spPr>
          <a:xfrm>
            <a:off x="8458200" y="2933700"/>
            <a:ext cx="8915400" cy="1752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/>
              <a:t>el 82% de las veces que aumento el tiempo de pintura, </a:t>
            </a:r>
            <a:r>
              <a:rPr lang="es-MX" sz="2800" dirty="0" smtClean="0"/>
              <a:t> </a:t>
            </a:r>
            <a:r>
              <a:rPr lang="es-MX" sz="2800" dirty="0"/>
              <a:t>aumenta también el espesor de la misma. (73% si no </a:t>
            </a:r>
            <a:r>
              <a:rPr lang="es-MX" sz="2800" dirty="0" smtClean="0"/>
              <a:t>                                                                                                       </a:t>
            </a:r>
            <a:r>
              <a:rPr lang="es-MX" sz="2800" dirty="0"/>
              <a:t>tengo en cuenta los denominadores)</a:t>
            </a:r>
            <a:endParaRPr lang="es-A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"/>
              <p:cNvSpPr/>
              <p:nvPr/>
            </p:nvSpPr>
            <p:spPr>
              <a:xfrm>
                <a:off x="838200" y="5905500"/>
                <a:ext cx="7772400" cy="11053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MX" sz="3600" dirty="0" smtClean="0">
                    <a:solidFill>
                      <a:schemeClr val="tx1"/>
                    </a:solidFill>
                  </a:rPr>
                  <a:t>R²  = 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𝑒</m:t>
                        </m:r>
                      </m:num>
                      <m:den>
                        <m:sSup>
                          <m:sSup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den>
                    </m:f>
                  </m:oMath>
                </a14:m>
                <a:r>
                  <a:rPr lang="es-MX" sz="3600" dirty="0">
                    <a:solidFill>
                      <a:schemeClr val="tx1"/>
                    </a:solidFill>
                  </a:rPr>
                  <a:t>            S² e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𝛴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 </m:t>
                        </m:r>
                        <m:sSup>
                          <m:sSupPr>
                            <m:ctrlPr>
                              <a:rPr lang="es-AR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AR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AR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AR" sz="3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sz="36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acc>
                                <m:r>
                                  <a:rPr lang="es-MX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s-MX" sz="36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s-MX" sz="3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s-MX" sz="3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−2</m:t>
                        </m:r>
                      </m:den>
                    </m:f>
                  </m:oMath>
                </a14:m>
                <a:endParaRPr lang="es-A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05500"/>
                <a:ext cx="7772400" cy="1105367"/>
              </a:xfrm>
              <a:prstGeom prst="rect">
                <a:avLst/>
              </a:prstGeom>
              <a:blipFill>
                <a:blip r:embed="rId3"/>
                <a:stretch>
                  <a:fillRect l="-2431" b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Rectángulo"/>
          <p:cNvSpPr/>
          <p:nvPr/>
        </p:nvSpPr>
        <p:spPr>
          <a:xfrm>
            <a:off x="9677400" y="6340202"/>
            <a:ext cx="7313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/>
              <a:t>(datos que se obtienen de la tabla de ANAVA)</a:t>
            </a:r>
            <a:endParaRPr lang="es-AR" sz="2400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600200" y="8496300"/>
            <a:ext cx="9064625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2400" dirty="0" smtClean="0"/>
              <a:t>f) Construya </a:t>
            </a:r>
            <a:r>
              <a:rPr lang="es-MX" sz="2400" dirty="0"/>
              <a:t>la tabla de ANAVA… (ver salida de software)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1740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"/>
          <p:cNvSpPr/>
          <p:nvPr/>
        </p:nvSpPr>
        <p:spPr>
          <a:xfrm>
            <a:off x="1086778" y="686246"/>
            <a:ext cx="66856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Vamos a resolverlo con la calculadora:</a:t>
            </a:r>
            <a:endParaRPr lang="es-AR" sz="2800" dirty="0">
              <a:solidFill>
                <a:schemeClr val="bg1"/>
              </a:solidFill>
            </a:endParaRPr>
          </a:p>
        </p:txBody>
      </p:sp>
      <p:sp>
        <p:nvSpPr>
          <p:cNvPr id="7" name="object 2"/>
          <p:cNvSpPr/>
          <p:nvPr/>
        </p:nvSpPr>
        <p:spPr>
          <a:xfrm>
            <a:off x="685801" y="1741816"/>
            <a:ext cx="7696200" cy="7592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/>
          </a:p>
        </p:txBody>
      </p:sp>
      <p:sp>
        <p:nvSpPr>
          <p:cNvPr id="3" name="2 Rectángulo redondeado"/>
          <p:cNvSpPr/>
          <p:nvPr/>
        </p:nvSpPr>
        <p:spPr>
          <a:xfrm>
            <a:off x="5638800" y="1562100"/>
            <a:ext cx="10820400" cy="1191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dirty="0" smtClean="0"/>
              <a:t>a) Hay </a:t>
            </a:r>
            <a:r>
              <a:rPr lang="es-MX" sz="3200" dirty="0"/>
              <a:t>que poner la calculadora en función REGRESION, INGRESAR los datos de a pares.</a:t>
            </a:r>
            <a:endParaRPr lang="es-AR" sz="3200" dirty="0"/>
          </a:p>
        </p:txBody>
      </p:sp>
      <p:sp>
        <p:nvSpPr>
          <p:cNvPr id="8" name="7 Elipse"/>
          <p:cNvSpPr/>
          <p:nvPr/>
        </p:nvSpPr>
        <p:spPr>
          <a:xfrm>
            <a:off x="8390800" y="3645507"/>
            <a:ext cx="4835525" cy="94297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Modo:   REG  -  LINEAL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sp>
        <p:nvSpPr>
          <p:cNvPr id="9" name="8 Flecha izquierda"/>
          <p:cNvSpPr/>
          <p:nvPr/>
        </p:nvSpPr>
        <p:spPr>
          <a:xfrm>
            <a:off x="4429589" y="4116994"/>
            <a:ext cx="4104811" cy="471488"/>
          </a:xfrm>
          <a:prstGeom prst="leftArrow">
            <a:avLst>
              <a:gd name="adj1" fmla="val 1794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 redondeado"/>
          <p:cNvSpPr/>
          <p:nvPr/>
        </p:nvSpPr>
        <p:spPr>
          <a:xfrm>
            <a:off x="9220199" y="5546950"/>
            <a:ext cx="7696195" cy="3254150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Dependiendo de la calculadora el ingreso de los datos es:</a:t>
            </a:r>
            <a:endParaRPr lang="es-AR" sz="24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24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Si tiene una PANTALLA reducida (como esta): </a:t>
            </a:r>
            <a:endParaRPr lang="es-AR" sz="24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s-MX" sz="24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el X           la COMA           el Y           M+</a:t>
            </a:r>
            <a:endParaRPr lang="es-AR" sz="24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s-MX" sz="24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 </a:t>
            </a:r>
            <a:endParaRPr lang="es-AR" sz="24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24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Si es una PANTALLA EXPANDIDA, se abrirá una TABLA para ingresar X e Y</a:t>
            </a:r>
            <a:endParaRPr lang="es-AR" sz="24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 </a:t>
            </a:r>
            <a:endParaRPr lang="es-AR" sz="24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sp>
        <p:nvSpPr>
          <p:cNvPr id="11" name="10 Flecha izquierda"/>
          <p:cNvSpPr/>
          <p:nvPr/>
        </p:nvSpPr>
        <p:spPr>
          <a:xfrm>
            <a:off x="4267199" y="5984631"/>
            <a:ext cx="5753102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lecha en U"/>
          <p:cNvSpPr/>
          <p:nvPr/>
        </p:nvSpPr>
        <p:spPr>
          <a:xfrm rot="10800000">
            <a:off x="4267196" y="6667500"/>
            <a:ext cx="12649197" cy="2438400"/>
          </a:xfrm>
          <a:prstGeom prst="uturnArrow">
            <a:avLst>
              <a:gd name="adj1" fmla="val 12217"/>
              <a:gd name="adj2" fmla="val 25000"/>
              <a:gd name="adj3" fmla="val 21005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3" name="12 Elipse"/>
          <p:cNvSpPr/>
          <p:nvPr/>
        </p:nvSpPr>
        <p:spPr>
          <a:xfrm>
            <a:off x="11289577" y="6744039"/>
            <a:ext cx="1371600" cy="4572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3810000" y="6213231"/>
            <a:ext cx="457199" cy="4572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14615157" y="6795202"/>
            <a:ext cx="1371600" cy="457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4423727" y="6233746"/>
            <a:ext cx="529273" cy="457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320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676400" y="723900"/>
            <a:ext cx="8534400" cy="182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200" dirty="0" smtClean="0"/>
              <a:t>b) Una </a:t>
            </a:r>
            <a:r>
              <a:rPr lang="es-MX" sz="3200" dirty="0"/>
              <a:t>vez los datos adentro, se le pueden pedir los resultados:</a:t>
            </a:r>
            <a:endParaRPr lang="es-AR" sz="32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24950" t="25961" r="58418" b="41738"/>
          <a:stretch/>
        </p:blipFill>
        <p:spPr bwMode="auto">
          <a:xfrm>
            <a:off x="1145393" y="2725615"/>
            <a:ext cx="5530899" cy="6324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Rectángulo redondeado"/>
              <p:cNvSpPr/>
              <p:nvPr/>
            </p:nvSpPr>
            <p:spPr>
              <a:xfrm>
                <a:off x="7124700" y="4252913"/>
                <a:ext cx="9486900" cy="3481387"/>
              </a:xfrm>
              <a:prstGeom prst="round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457200" indent="-2286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MX" sz="2800" dirty="0" smtClean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SHIFF + Tecla 1  </a:t>
                </a:r>
                <a:endParaRPr lang="es-AR" sz="28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1= 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x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²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2= </a:t>
                </a:r>
                <a:r>
                  <a:rPr lang="es-MX" sz="2800" dirty="0" err="1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s-MX" sz="2800" dirty="0" err="1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x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3= n              1= 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y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²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2= </a:t>
                </a:r>
                <a:r>
                  <a:rPr lang="es-MX" sz="2800" dirty="0" err="1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s-MX" sz="2800" dirty="0" err="1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y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3= </a:t>
                </a:r>
                <a:r>
                  <a:rPr lang="es-MX" sz="2800" dirty="0" err="1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s-MX" sz="2800" dirty="0" err="1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xy</a:t>
                </a:r>
                <a:endParaRPr lang="es-AR" sz="28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</a:t>
                </a:r>
                <a:endParaRPr lang="es-AR" sz="28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marL="457200" indent="-2286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SHIFF + Tecla 2</a:t>
                </a:r>
                <a:endParaRPr lang="es-AR" sz="28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1=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2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s-MX" sz="28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 2= 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x    3= </a:t>
                </a:r>
                <a:r>
                  <a:rPr lang="en-US" sz="2800" dirty="0" err="1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Sx</a:t>
                </a:r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         1=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AR" sz="2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s-MX" sz="28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 2= </a:t>
                </a:r>
                <a:r>
                  <a:rPr lang="es-MX" sz="28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σ</a:t>
                </a:r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y    3= </a:t>
                </a:r>
                <a:r>
                  <a:rPr lang="en-US" sz="2800" dirty="0" err="1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Sy</a:t>
                </a:r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</a:t>
                </a:r>
                <a:endParaRPr lang="es-AR" sz="28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1= a      2=  b      3=   r            1=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sz="2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      2=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sz="2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𝑦</m:t>
                        </m:r>
                      </m:e>
                    </m:acc>
                  </m:oMath>
                </a14:m>
                <a:endParaRPr lang="es-AR" sz="28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7 Rectángulo redondead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700" y="4252913"/>
                <a:ext cx="9486900" cy="34813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Elipse"/>
          <p:cNvSpPr/>
          <p:nvPr/>
        </p:nvSpPr>
        <p:spPr>
          <a:xfrm>
            <a:off x="1752600" y="2781300"/>
            <a:ext cx="1219200" cy="12954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Elipse"/>
          <p:cNvSpPr/>
          <p:nvPr/>
        </p:nvSpPr>
        <p:spPr>
          <a:xfrm>
            <a:off x="2743200" y="6951785"/>
            <a:ext cx="1219200" cy="12954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1693985" y="6972300"/>
            <a:ext cx="1219200" cy="12954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2" name="11 Conector recto de flecha"/>
          <p:cNvCxnSpPr/>
          <p:nvPr/>
        </p:nvCxnSpPr>
        <p:spPr>
          <a:xfrm flipH="1" flipV="1">
            <a:off x="2913185" y="3429000"/>
            <a:ext cx="4630615" cy="14097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>
            <a:endCxn id="10" idx="7"/>
          </p:cNvCxnSpPr>
          <p:nvPr/>
        </p:nvCxnSpPr>
        <p:spPr>
          <a:xfrm flipH="1">
            <a:off x="2734637" y="5067300"/>
            <a:ext cx="4809163" cy="2094707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>
            <a:endCxn id="3" idx="5"/>
          </p:cNvCxnSpPr>
          <p:nvPr/>
        </p:nvCxnSpPr>
        <p:spPr>
          <a:xfrm flipH="1" flipV="1">
            <a:off x="2793252" y="3886993"/>
            <a:ext cx="4750548" cy="2399507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 flipH="1">
            <a:off x="3352800" y="6515100"/>
            <a:ext cx="4191000" cy="9906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07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"/>
          <p:cNvSpPr/>
          <p:nvPr/>
        </p:nvSpPr>
        <p:spPr>
          <a:xfrm>
            <a:off x="1524000" y="641754"/>
            <a:ext cx="9829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4400" dirty="0"/>
              <a:t>Veamos ahora con INFOSTAT</a:t>
            </a:r>
            <a:endParaRPr lang="es-AR" sz="4400" dirty="0"/>
          </a:p>
        </p:txBody>
      </p:sp>
      <p:sp>
        <p:nvSpPr>
          <p:cNvPr id="3" name="2 Rectángulo redondeado"/>
          <p:cNvSpPr/>
          <p:nvPr/>
        </p:nvSpPr>
        <p:spPr>
          <a:xfrm>
            <a:off x="1219200" y="1562100"/>
            <a:ext cx="10439400" cy="1676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1) Cargar </a:t>
            </a:r>
            <a:r>
              <a:rPr lang="es-MX" sz="3600" dirty="0"/>
              <a:t>la base de datos: a) introduciendo cada valor, b) a partir de un archivo Excel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t="3320" r="36354" b="34796"/>
          <a:stretch/>
        </p:blipFill>
        <p:spPr bwMode="auto">
          <a:xfrm>
            <a:off x="1219200" y="3695700"/>
            <a:ext cx="12573000" cy="541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4565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075055" y="495300"/>
            <a:ext cx="6925945" cy="182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dirty="0" smtClean="0"/>
              <a:t>2) Vamos </a:t>
            </a:r>
            <a:r>
              <a:rPr lang="es-MX" sz="3600" dirty="0"/>
              <a:t>a pedir el gráfico: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170" t="2113" r="36524" b="35098"/>
          <a:stretch/>
        </p:blipFill>
        <p:spPr bwMode="auto">
          <a:xfrm>
            <a:off x="838200" y="2476500"/>
            <a:ext cx="9677400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2 Rectángulo redondeado"/>
          <p:cNvSpPr/>
          <p:nvPr/>
        </p:nvSpPr>
        <p:spPr>
          <a:xfrm>
            <a:off x="8686800" y="713116"/>
            <a:ext cx="6934200" cy="2057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s-AR" sz="3600" dirty="0" smtClean="0"/>
              <a:t>GRÁFICOS</a:t>
            </a:r>
          </a:p>
          <a:p>
            <a:pPr marL="285750" indent="-285750" algn="ctr">
              <a:buFont typeface="Arial" pitchFamily="34" charset="0"/>
              <a:buChar char="•"/>
            </a:pPr>
            <a:endParaRPr lang="es-AR" sz="3600" dirty="0"/>
          </a:p>
          <a:p>
            <a:pPr marL="285750" indent="-285750" algn="ctr">
              <a:buFont typeface="Arial" pitchFamily="34" charset="0"/>
              <a:buChar char="•"/>
            </a:pPr>
            <a:r>
              <a:rPr lang="es-AR" sz="3600" dirty="0" smtClean="0"/>
              <a:t>DIAGRAMA DE DISPERSIÓN</a:t>
            </a:r>
            <a:endParaRPr lang="es-AR" sz="3600" dirty="0"/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4929555" y="1741816"/>
            <a:ext cx="4824045" cy="1179795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13 Imagen"/>
          <p:cNvPicPr/>
          <p:nvPr/>
        </p:nvPicPr>
        <p:blipFill rotWithShape="1">
          <a:blip r:embed="rId3"/>
          <a:srcRect t="12075" r="32281" b="25437"/>
          <a:stretch/>
        </p:blipFill>
        <p:spPr bwMode="auto">
          <a:xfrm>
            <a:off x="7482522" y="3238500"/>
            <a:ext cx="10195878" cy="6096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7162800" y="7652238"/>
            <a:ext cx="6248400" cy="1752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dirty="0" smtClean="0"/>
              <a:t>Definimos quien es X y quien es Y</a:t>
            </a:r>
            <a:endParaRPr lang="es-AR" sz="3200" dirty="0"/>
          </a:p>
        </p:txBody>
      </p:sp>
      <p:cxnSp>
        <p:nvCxnSpPr>
          <p:cNvPr id="17" name="16 Conector recto de flecha"/>
          <p:cNvCxnSpPr/>
          <p:nvPr/>
        </p:nvCxnSpPr>
        <p:spPr>
          <a:xfrm flipV="1">
            <a:off x="11506200" y="7962900"/>
            <a:ext cx="3429000" cy="2286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/>
          <p:nvPr/>
        </p:nvCxnSpPr>
        <p:spPr>
          <a:xfrm flipV="1">
            <a:off x="13030200" y="4457700"/>
            <a:ext cx="1905000" cy="40708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08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6 Imagen"/>
          <p:cNvPicPr/>
          <p:nvPr/>
        </p:nvPicPr>
        <p:blipFill rotWithShape="1">
          <a:blip r:embed="rId2"/>
          <a:srcRect l="37339" t="24753" r="36524" b="20306"/>
          <a:stretch/>
        </p:blipFill>
        <p:spPr bwMode="auto">
          <a:xfrm>
            <a:off x="2133600" y="1152524"/>
            <a:ext cx="7743825" cy="80295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1 Elipse"/>
          <p:cNvSpPr/>
          <p:nvPr/>
        </p:nvSpPr>
        <p:spPr>
          <a:xfrm>
            <a:off x="10210800" y="3390900"/>
            <a:ext cx="7315200" cy="487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dirty="0" smtClean="0"/>
              <a:t>El gráfico de dispersión muestra una relación «lineal» directa o positiva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85337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600200" y="1485900"/>
            <a:ext cx="9372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3) Pedimos </a:t>
            </a:r>
            <a:r>
              <a:rPr lang="es-MX" sz="3600" dirty="0"/>
              <a:t>que haga el análisis de correlación: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1018" t="2717" r="36355" b="24533"/>
          <a:stretch/>
        </p:blipFill>
        <p:spPr bwMode="auto">
          <a:xfrm>
            <a:off x="685801" y="3162300"/>
            <a:ext cx="8305799" cy="69341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Elipse"/>
          <p:cNvSpPr/>
          <p:nvPr/>
        </p:nvSpPr>
        <p:spPr>
          <a:xfrm>
            <a:off x="8077200" y="2628900"/>
            <a:ext cx="7848600" cy="22098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Estadísticas</a:t>
            </a:r>
            <a:endParaRPr lang="es-AR" sz="28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Análisis de Correlación</a:t>
            </a:r>
            <a:endParaRPr lang="es-AR" sz="28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Symbol"/>
              <a:buChar char=""/>
            </a:pP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Coeficiente de Correlación</a:t>
            </a:r>
            <a:endParaRPr lang="es-AR" sz="28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3505200" y="3162300"/>
            <a:ext cx="7315200" cy="1524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 flipH="1">
            <a:off x="4495800" y="3733800"/>
            <a:ext cx="5334000" cy="42291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flipH="1">
            <a:off x="7162800" y="4305300"/>
            <a:ext cx="2667000" cy="365760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14 Imagen"/>
          <p:cNvPicPr/>
          <p:nvPr/>
        </p:nvPicPr>
        <p:blipFill rotWithShape="1">
          <a:blip r:embed="rId3"/>
          <a:srcRect l="771" t="2717" r="36112" b="33891"/>
          <a:stretch/>
        </p:blipFill>
        <p:spPr bwMode="auto">
          <a:xfrm>
            <a:off x="8962292" y="5143500"/>
            <a:ext cx="8868508" cy="4495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15 Rectángulo redondeado"/>
          <p:cNvSpPr/>
          <p:nvPr/>
        </p:nvSpPr>
        <p:spPr>
          <a:xfrm>
            <a:off x="12344400" y="7962900"/>
            <a:ext cx="5181600" cy="1676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dirty="0" smtClean="0"/>
              <a:t>Indicamos las variables</a:t>
            </a:r>
            <a:endParaRPr lang="es-AR" sz="3200" dirty="0"/>
          </a:p>
        </p:txBody>
      </p:sp>
      <p:cxnSp>
        <p:nvCxnSpPr>
          <p:cNvPr id="18" name="17 Conector recto de flecha"/>
          <p:cNvCxnSpPr/>
          <p:nvPr/>
        </p:nvCxnSpPr>
        <p:spPr>
          <a:xfrm flipV="1">
            <a:off x="14478000" y="6896100"/>
            <a:ext cx="1447800" cy="1524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79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6 Imagen"/>
          <p:cNvPicPr/>
          <p:nvPr/>
        </p:nvPicPr>
        <p:blipFill rotWithShape="1">
          <a:blip r:embed="rId2"/>
          <a:srcRect l="5940" t="16301" r="56721" b="51097"/>
          <a:stretch/>
        </p:blipFill>
        <p:spPr bwMode="auto">
          <a:xfrm>
            <a:off x="1371600" y="2628900"/>
            <a:ext cx="6934200" cy="3505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Elipse"/>
          <p:cNvSpPr/>
          <p:nvPr/>
        </p:nvSpPr>
        <p:spPr>
          <a:xfrm>
            <a:off x="7772400" y="4576762"/>
            <a:ext cx="10134600" cy="338613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36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r = 0,73 Coeficiente de correlación</a:t>
            </a:r>
            <a:endParaRPr lang="es-AR" sz="36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3600" dirty="0" err="1">
                <a:solidFill>
                  <a:schemeClr val="tx1"/>
                </a:solidFill>
                <a:effectLst/>
                <a:ea typeface="Calibri"/>
                <a:cs typeface="Times New Roman"/>
              </a:rPr>
              <a:t>vp</a:t>
            </a:r>
            <a:r>
              <a:rPr lang="es-MX" sz="36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 = 0,02</a:t>
            </a:r>
            <a:endParaRPr lang="es-AR" sz="36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3" name="2 Conector recto de flecha"/>
          <p:cNvCxnSpPr/>
          <p:nvPr/>
        </p:nvCxnSpPr>
        <p:spPr>
          <a:xfrm flipH="1">
            <a:off x="3200400" y="5676900"/>
            <a:ext cx="60960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 flipV="1">
            <a:off x="4114800" y="5448300"/>
            <a:ext cx="5181600" cy="1524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22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075055" y="1028699"/>
            <a:ext cx="8602345" cy="1219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4) Pedimos </a:t>
            </a:r>
            <a:r>
              <a:rPr lang="es-MX" sz="3600" dirty="0"/>
              <a:t>análisis de regresión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849" t="3019" r="59776" b="35701"/>
          <a:stretch/>
        </p:blipFill>
        <p:spPr bwMode="auto">
          <a:xfrm>
            <a:off x="1075054" y="2781300"/>
            <a:ext cx="6849745" cy="5638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Elipse"/>
          <p:cNvSpPr/>
          <p:nvPr/>
        </p:nvSpPr>
        <p:spPr>
          <a:xfrm>
            <a:off x="7239000" y="2400300"/>
            <a:ext cx="5638800" cy="17526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07000"/>
              </a:lnSpc>
              <a:spcAft>
                <a:spcPts val="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Estadísticas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 indent="-228600"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Regresión Lineal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 flipV="1">
            <a:off x="4648200" y="2781300"/>
            <a:ext cx="4038600" cy="2286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>
            <a:off x="5867400" y="3543300"/>
            <a:ext cx="2667000" cy="2667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11 Imagen"/>
          <p:cNvPicPr/>
          <p:nvPr/>
        </p:nvPicPr>
        <p:blipFill rotWithShape="1">
          <a:blip r:embed="rId3"/>
          <a:srcRect l="31399" t="12980" r="31602" b="16684"/>
          <a:stretch/>
        </p:blipFill>
        <p:spPr bwMode="auto">
          <a:xfrm>
            <a:off x="8077200" y="4901837"/>
            <a:ext cx="5334000" cy="49823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12 Elipse"/>
          <p:cNvSpPr/>
          <p:nvPr/>
        </p:nvSpPr>
        <p:spPr>
          <a:xfrm>
            <a:off x="13106400" y="6213597"/>
            <a:ext cx="5181600" cy="211723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Variable </a:t>
            </a:r>
            <a:r>
              <a:rPr lang="es-MX" sz="2800" dirty="0" err="1">
                <a:solidFill>
                  <a:schemeClr val="tx1"/>
                </a:solidFill>
                <a:effectLst/>
                <a:ea typeface="Calibri"/>
                <a:cs typeface="Times New Roman"/>
              </a:rPr>
              <a:t>regresora</a:t>
            </a: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 (X)</a:t>
            </a:r>
            <a:endParaRPr lang="es-AR" sz="28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Variable dependiente (Y)</a:t>
            </a:r>
            <a:endParaRPr lang="es-AR" sz="28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15" name="14 Conector recto de flecha"/>
          <p:cNvCxnSpPr/>
          <p:nvPr/>
        </p:nvCxnSpPr>
        <p:spPr>
          <a:xfrm flipH="1">
            <a:off x="11887200" y="6591300"/>
            <a:ext cx="1981200" cy="1219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 flipH="1" flipV="1">
            <a:off x="11887200" y="5981700"/>
            <a:ext cx="2438400" cy="1600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59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6 Imagen"/>
          <p:cNvPicPr/>
          <p:nvPr/>
        </p:nvPicPr>
        <p:blipFill rotWithShape="1">
          <a:blip r:embed="rId2"/>
          <a:srcRect l="35302" t="23244" r="34827" b="27853"/>
          <a:stretch/>
        </p:blipFill>
        <p:spPr bwMode="auto">
          <a:xfrm>
            <a:off x="838200" y="2828924"/>
            <a:ext cx="6248400" cy="63531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Elipse"/>
          <p:cNvSpPr/>
          <p:nvPr/>
        </p:nvSpPr>
        <p:spPr>
          <a:xfrm>
            <a:off x="7924800" y="4281488"/>
            <a:ext cx="9220200" cy="474821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En la solapa GENERAL aclara que va a calcular: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Ordenada al origen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Coeficientes de regresión y otros estadísticos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Symbol"/>
              <a:buChar char=""/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Tabla de </a:t>
            </a:r>
            <a:r>
              <a:rPr lang="es-MX" sz="3200" dirty="0" smtClean="0">
                <a:solidFill>
                  <a:schemeClr val="tx1"/>
                </a:solidFill>
                <a:effectLst/>
                <a:ea typeface="Calibri"/>
                <a:cs typeface="Times New Roman"/>
              </a:rPr>
              <a:t>ANAVA</a:t>
            </a: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Symbol"/>
              <a:buChar char=""/>
            </a:pPr>
            <a:r>
              <a:rPr lang="es-MX" sz="3200" dirty="0" smtClean="0">
                <a:solidFill>
                  <a:schemeClr val="tx1"/>
                </a:solidFill>
                <a:ea typeface="Calibri"/>
                <a:cs typeface="Times New Roman"/>
              </a:rPr>
              <a:t>Y que usa MMC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3" name="2 Conector recto de flecha"/>
          <p:cNvCxnSpPr/>
          <p:nvPr/>
        </p:nvCxnSpPr>
        <p:spPr>
          <a:xfrm flipH="1">
            <a:off x="3124200" y="6134100"/>
            <a:ext cx="6858000" cy="23574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H="1" flipV="1">
            <a:off x="5486400" y="4243388"/>
            <a:ext cx="3886200" cy="250031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 flipH="1" flipV="1">
            <a:off x="2667000" y="4762500"/>
            <a:ext cx="7696200" cy="3048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12 Elipse"/>
          <p:cNvSpPr/>
          <p:nvPr/>
        </p:nvSpPr>
        <p:spPr>
          <a:xfrm>
            <a:off x="3505200" y="6743700"/>
            <a:ext cx="2667000" cy="10668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5" name="14 Conector recto de flecha"/>
          <p:cNvCxnSpPr/>
          <p:nvPr/>
        </p:nvCxnSpPr>
        <p:spPr>
          <a:xfrm flipH="1" flipV="1">
            <a:off x="5332412" y="7277100"/>
            <a:ext cx="4878388" cy="1219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30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6 Imagen"/>
          <p:cNvPicPr/>
          <p:nvPr/>
        </p:nvPicPr>
        <p:blipFill rotWithShape="1">
          <a:blip r:embed="rId2"/>
          <a:srcRect l="5940" t="15697" r="29226" b="25740"/>
          <a:stretch/>
        </p:blipFill>
        <p:spPr bwMode="auto">
          <a:xfrm>
            <a:off x="560972" y="2095500"/>
            <a:ext cx="10103853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Elipse"/>
          <p:cNvSpPr/>
          <p:nvPr/>
        </p:nvSpPr>
        <p:spPr>
          <a:xfrm>
            <a:off x="11277600" y="3409950"/>
            <a:ext cx="6400800" cy="432435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6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Ofrece 2 salidas:</a:t>
            </a:r>
            <a:endParaRPr lang="es-AR" sz="36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36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Gráficos (2)</a:t>
            </a:r>
            <a:endParaRPr lang="es-AR" sz="36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36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Estadísticos</a:t>
            </a:r>
            <a:endParaRPr lang="es-AR" sz="36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10363200" y="5572125"/>
            <a:ext cx="2514600" cy="180975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9 Flecha en U"/>
          <p:cNvSpPr/>
          <p:nvPr/>
        </p:nvSpPr>
        <p:spPr>
          <a:xfrm rot="10800000">
            <a:off x="4419600" y="6743700"/>
            <a:ext cx="9677400" cy="2667000"/>
          </a:xfrm>
          <a:prstGeom prst="uturnArrow">
            <a:avLst>
              <a:gd name="adj1" fmla="val 8517"/>
              <a:gd name="adj2" fmla="val 25000"/>
              <a:gd name="adj3" fmla="val 24341"/>
              <a:gd name="adj4" fmla="val 43750"/>
              <a:gd name="adj5" fmla="val 75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07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838201" y="1152524"/>
            <a:ext cx="6324600" cy="17811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5) Vamos </a:t>
            </a:r>
            <a:r>
              <a:rPr lang="es-MX" sz="3600" dirty="0"/>
              <a:t>a analizar por parte:</a:t>
            </a:r>
            <a:endParaRPr lang="es-AR" sz="3600" dirty="0"/>
          </a:p>
          <a:p>
            <a:pPr lvl="0"/>
            <a:r>
              <a:rPr lang="es-MX" sz="3600" dirty="0" smtClean="0"/>
              <a:t>a) GRÁFICOS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36660" t="19622" r="26171" b="28758"/>
          <a:stretch/>
        </p:blipFill>
        <p:spPr bwMode="auto">
          <a:xfrm>
            <a:off x="1075055" y="3695700"/>
            <a:ext cx="7459345" cy="5867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2 Rectángulo redondeado"/>
          <p:cNvSpPr/>
          <p:nvPr/>
        </p:nvSpPr>
        <p:spPr>
          <a:xfrm>
            <a:off x="10287000" y="4229100"/>
            <a:ext cx="5867400" cy="464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3200" dirty="0"/>
              <a:t>Este gráfico (2) es como el que ya hicimos (0) pero con la recta (la mejor recta) dibujada. (punto 2)</a:t>
            </a:r>
            <a:endParaRPr lang="es-AR" sz="3200" dirty="0"/>
          </a:p>
          <a:p>
            <a:r>
              <a:rPr lang="es-MX" sz="3200" dirty="0"/>
              <a:t> </a:t>
            </a:r>
            <a:endParaRPr lang="es-AR" sz="3200" dirty="0"/>
          </a:p>
          <a:p>
            <a:r>
              <a:rPr lang="es-MX" sz="3200" dirty="0"/>
              <a:t>El gráfico (1) lo vamos a analizar más adelante.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77639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075055" y="1409700"/>
            <a:ext cx="6621145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b) ESTADÍSTICOS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5940" t="16603" r="55702" b="25438"/>
          <a:stretch/>
        </p:blipFill>
        <p:spPr bwMode="auto">
          <a:xfrm>
            <a:off x="566835" y="3086100"/>
            <a:ext cx="7129365" cy="655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Rectángulo redondeado"/>
          <p:cNvSpPr/>
          <p:nvPr/>
        </p:nvSpPr>
        <p:spPr>
          <a:xfrm>
            <a:off x="8153400" y="2857500"/>
            <a:ext cx="8686800" cy="1219200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En la primera tabla nos da: Variable Y, </a:t>
            </a:r>
            <a:r>
              <a:rPr lang="es-MX" sz="2800" dirty="0" smtClean="0">
                <a:solidFill>
                  <a:schemeClr val="tx1"/>
                </a:solidFill>
                <a:effectLst/>
                <a:ea typeface="Calibri"/>
                <a:cs typeface="Times New Roman"/>
              </a:rPr>
              <a:t>n, R</a:t>
            </a:r>
            <a:r>
              <a:rPr lang="es-MX" sz="2800" dirty="0" smtClean="0">
                <a:solidFill>
                  <a:schemeClr val="tx1"/>
                </a:solidFill>
                <a:effectLst/>
                <a:ea typeface="Calibri"/>
                <a:cs typeface="Calibri"/>
              </a:rPr>
              <a:t>²</a:t>
            </a:r>
            <a:r>
              <a:rPr lang="es-MX" sz="2800" dirty="0" smtClean="0">
                <a:solidFill>
                  <a:schemeClr val="tx1"/>
                </a:solidFill>
                <a:effectLst/>
                <a:ea typeface="Calibri"/>
                <a:cs typeface="Times New Roman"/>
              </a:rPr>
              <a:t> </a:t>
            </a:r>
            <a:r>
              <a:rPr lang="es-MX" sz="28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y otros coeficientes que no analizaremos</a:t>
            </a:r>
            <a:endParaRPr lang="es-AR" sz="28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>
            <a:stCxn id="8" idx="1"/>
          </p:cNvCxnSpPr>
          <p:nvPr/>
        </p:nvCxnSpPr>
        <p:spPr>
          <a:xfrm flipH="1">
            <a:off x="2743200" y="3467100"/>
            <a:ext cx="5410200" cy="10668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8112034" y="5859840"/>
            <a:ext cx="9566366" cy="1569660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s-MX" sz="3200" dirty="0"/>
              <a:t>En la segunda tabla aparecen los coeficientes:</a:t>
            </a:r>
            <a:endParaRPr lang="es-AR" sz="3200" dirty="0"/>
          </a:p>
          <a:p>
            <a:r>
              <a:rPr lang="es-MX" sz="3200" dirty="0"/>
              <a:t>a = 30</a:t>
            </a:r>
            <a:endParaRPr lang="es-AR" sz="3200" dirty="0"/>
          </a:p>
          <a:p>
            <a:r>
              <a:rPr lang="es-MX" sz="3200" dirty="0"/>
              <a:t>b = 1,5</a:t>
            </a:r>
            <a:endParaRPr lang="es-AR" sz="3200" dirty="0"/>
          </a:p>
        </p:txBody>
      </p:sp>
      <p:cxnSp>
        <p:nvCxnSpPr>
          <p:cNvPr id="13" name="12 Conector recto de flecha"/>
          <p:cNvCxnSpPr/>
          <p:nvPr/>
        </p:nvCxnSpPr>
        <p:spPr>
          <a:xfrm flipH="1" flipV="1">
            <a:off x="2057400" y="6438900"/>
            <a:ext cx="5791200" cy="170765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 flipV="1">
            <a:off x="1600200" y="6896100"/>
            <a:ext cx="6172200" cy="381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15 Rectángulo redondeado"/>
          <p:cNvSpPr/>
          <p:nvPr/>
        </p:nvSpPr>
        <p:spPr>
          <a:xfrm>
            <a:off x="8382000" y="8420100"/>
            <a:ext cx="8153400" cy="657225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6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La tercera tabla es la del ANAVA</a:t>
            </a:r>
            <a:endParaRPr lang="es-AR" sz="36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18" name="17 Conector recto de flecha"/>
          <p:cNvCxnSpPr/>
          <p:nvPr/>
        </p:nvCxnSpPr>
        <p:spPr>
          <a:xfrm flipH="1" flipV="1">
            <a:off x="4953000" y="8115300"/>
            <a:ext cx="3733800" cy="838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71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075055" y="1741816"/>
            <a:ext cx="10735945" cy="21824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6) En </a:t>
            </a:r>
            <a:r>
              <a:rPr lang="es-MX" sz="3600" dirty="0"/>
              <a:t>base a esta salida podemos armar la función esperada:</a:t>
            </a:r>
            <a:endParaRPr lang="es-A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Rectángulo"/>
              <p:cNvSpPr/>
              <p:nvPr/>
            </p:nvSpPr>
            <p:spPr>
              <a:xfrm>
                <a:off x="1828800" y="4535898"/>
                <a:ext cx="14249400" cy="2581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MX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MX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MX" sz="3200" dirty="0">
                    <a:solidFill>
                      <a:schemeClr val="tx1"/>
                    </a:solidFill>
                  </a:rPr>
                  <a:t> =  30 + 1,5 * X       </a:t>
                </a:r>
                <a:endParaRPr lang="es-MX" sz="3200" dirty="0" smtClean="0">
                  <a:solidFill>
                    <a:schemeClr val="tx1"/>
                  </a:solidFill>
                </a:endParaRPr>
              </a:p>
              <a:p>
                <a:r>
                  <a:rPr lang="es-MX" sz="3200" dirty="0" smtClean="0">
                    <a:solidFill>
                      <a:schemeClr val="tx1"/>
                    </a:solidFill>
                  </a:rPr>
                  <a:t>  </a:t>
                </a:r>
                <a:endParaRPr lang="es-AR" sz="3200" dirty="0">
                  <a:solidFill>
                    <a:schemeClr val="tx1"/>
                  </a:solidFill>
                </a:endParaRPr>
              </a:p>
              <a:p>
                <a:r>
                  <a:rPr lang="es-MX" sz="3200" dirty="0">
                    <a:solidFill>
                      <a:schemeClr val="tx1"/>
                    </a:solidFill>
                  </a:rPr>
                  <a:t>A partir de esta función se podría empezar a inferir valores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MX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MX" sz="3200" dirty="0">
                    <a:solidFill>
                      <a:schemeClr val="tx1"/>
                    </a:solidFill>
                  </a:rPr>
                  <a:t> para ciertos valores de X,  eso sólo es posible si estamos </a:t>
                </a:r>
                <a:r>
                  <a:rPr lang="es-MX" sz="3200" u="sng" dirty="0">
                    <a:solidFill>
                      <a:schemeClr val="tx1"/>
                    </a:solidFill>
                  </a:rPr>
                  <a:t>seguros que la función cumple con ciertos requisitos indispensables</a:t>
                </a:r>
                <a:r>
                  <a:rPr lang="es-MX" sz="3200" dirty="0">
                    <a:solidFill>
                      <a:schemeClr val="tx1"/>
                    </a:solidFill>
                  </a:rPr>
                  <a:t> para esto.</a:t>
                </a:r>
                <a:endParaRPr lang="es-A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535898"/>
                <a:ext cx="14249400" cy="2581348"/>
              </a:xfrm>
              <a:prstGeom prst="rect">
                <a:avLst/>
              </a:prstGeom>
              <a:blipFill>
                <a:blip r:embed="rId2"/>
                <a:stretch>
                  <a:fillRect l="-1069" t="-2594" b="-6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6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075055" y="1257300"/>
            <a:ext cx="11650345" cy="1752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7) REQUISITOS</a:t>
            </a:r>
            <a:r>
              <a:rPr lang="es-MX" sz="3600" dirty="0"/>
              <a:t>:  cómo pedir para poder analizarlos??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34963" t="21433" r="35336" b="27853"/>
          <a:stretch/>
        </p:blipFill>
        <p:spPr bwMode="auto">
          <a:xfrm>
            <a:off x="1075055" y="3695700"/>
            <a:ext cx="4944745" cy="5181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Rectángulo redondeado"/>
          <p:cNvSpPr/>
          <p:nvPr/>
        </p:nvSpPr>
        <p:spPr>
          <a:xfrm>
            <a:off x="7772400" y="4988168"/>
            <a:ext cx="9677400" cy="2441331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En la solapa DIAGNOSTICO, tildaremos: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 indent="-228600" algn="ctr">
              <a:lnSpc>
                <a:spcPct val="107000"/>
              </a:lnSpc>
              <a:spcAft>
                <a:spcPts val="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Residuos 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 indent="-228600" algn="ctr">
              <a:lnSpc>
                <a:spcPct val="107000"/>
              </a:lnSpc>
              <a:spcAft>
                <a:spcPts val="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Predichos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 indent="-228600"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Q-Q </a:t>
            </a:r>
            <a:r>
              <a:rPr lang="es-MX" sz="3200" dirty="0" err="1">
                <a:solidFill>
                  <a:schemeClr val="tx1"/>
                </a:solidFill>
                <a:effectLst/>
                <a:ea typeface="Calibri"/>
                <a:cs typeface="Times New Roman"/>
              </a:rPr>
              <a:t>Plot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100" dirty="0">
                <a:solidFill>
                  <a:srgbClr val="FF0000"/>
                </a:solidFill>
                <a:effectLst/>
                <a:ea typeface="Calibri"/>
                <a:cs typeface="Times New Roman"/>
              </a:rPr>
              <a:t> </a:t>
            </a:r>
            <a:endParaRPr lang="es-AR" sz="1100" dirty="0"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 flipV="1">
            <a:off x="2667000" y="4457700"/>
            <a:ext cx="5943600" cy="838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 flipV="1">
            <a:off x="2514600" y="4988168"/>
            <a:ext cx="8382000" cy="84113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 flipH="1" flipV="1">
            <a:off x="4191000" y="4988168"/>
            <a:ext cx="6858000" cy="129833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>
            <a:off x="4572000" y="6972300"/>
            <a:ext cx="6477000" cy="9144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83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762000" y="1152524"/>
            <a:ext cx="11125200" cy="17811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3200" dirty="0"/>
              <a:t>AHORA comencemos a ANALIZAR los GRAFICOS:</a:t>
            </a:r>
            <a:endParaRPr lang="es-AR" sz="3200" dirty="0"/>
          </a:p>
          <a:p>
            <a:pPr lvl="0"/>
            <a:r>
              <a:rPr lang="es-MX" sz="3200" dirty="0" smtClean="0"/>
              <a:t>A)  Q-Q </a:t>
            </a:r>
            <a:r>
              <a:rPr lang="es-MX" sz="3200" dirty="0" err="1"/>
              <a:t>Plot</a:t>
            </a:r>
            <a:r>
              <a:rPr lang="es-MX" sz="3200" dirty="0"/>
              <a:t>:  para probar si nuestros ERRORES se comportan de manera NORMAL</a:t>
            </a:r>
            <a:r>
              <a:rPr lang="es-MX" dirty="0"/>
              <a:t>:</a:t>
            </a:r>
            <a:endParaRPr lang="es-AR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36660" t="19622" r="22267" b="29664"/>
          <a:stretch/>
        </p:blipFill>
        <p:spPr bwMode="auto">
          <a:xfrm>
            <a:off x="537526" y="3695700"/>
            <a:ext cx="7158673" cy="5562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Rectángulo redondeado"/>
          <p:cNvSpPr/>
          <p:nvPr/>
        </p:nvSpPr>
        <p:spPr>
          <a:xfrm>
            <a:off x="8712444" y="3708156"/>
            <a:ext cx="8432556" cy="3568944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Gráfico Probabilístico, donde en un eje está la variable ERROR y en el otro están valores de Z.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Si la variable se comporta como NORMAL, los puntos deberían caer sobre la línea a 45° 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1219200" y="4914900"/>
            <a:ext cx="8382000" cy="14478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>
            <a:off x="4800600" y="5295900"/>
            <a:ext cx="5864225" cy="3048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11 Rectángulo"/>
          <p:cNvSpPr/>
          <p:nvPr/>
        </p:nvSpPr>
        <p:spPr>
          <a:xfrm>
            <a:off x="11277600" y="7505700"/>
            <a:ext cx="3352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8800" dirty="0"/>
              <a:t>🙈</a:t>
            </a:r>
          </a:p>
        </p:txBody>
      </p:sp>
    </p:spTree>
    <p:extLst>
      <p:ext uri="{BB962C8B-B14F-4D97-AF65-F5344CB8AC3E}">
        <p14:creationId xmlns:p14="http://schemas.microsoft.com/office/powerpoint/2010/main" val="74713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219200" y="1152524"/>
            <a:ext cx="10515600" cy="17811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600" dirty="0" smtClean="0"/>
              <a:t>B)  El </a:t>
            </a:r>
            <a:r>
              <a:rPr lang="es-MX" sz="3600" dirty="0"/>
              <a:t>otro gráfico es un DIAGRAMA de DISPERSIÓN entre los errores y los predichos:</a:t>
            </a:r>
            <a:endParaRPr lang="es-AR" sz="36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36999" t="20527" r="22946" b="29061"/>
          <a:stretch/>
        </p:blipFill>
        <p:spPr bwMode="auto">
          <a:xfrm>
            <a:off x="537526" y="3543300"/>
            <a:ext cx="7006273" cy="5486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Rectángulo redondeado"/>
          <p:cNvSpPr/>
          <p:nvPr/>
        </p:nvSpPr>
        <p:spPr>
          <a:xfrm>
            <a:off x="8382000" y="4429124"/>
            <a:ext cx="9144000" cy="4295775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 algn="ctr">
              <a:lnSpc>
                <a:spcPct val="107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s-MX" sz="3200" dirty="0" smtClean="0">
                <a:solidFill>
                  <a:schemeClr val="tx1"/>
                </a:solidFill>
                <a:effectLst/>
                <a:ea typeface="Calibri"/>
                <a:cs typeface="Times New Roman"/>
              </a:rPr>
              <a:t>Si </a:t>
            </a: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la media de los errores es 0, deberían quedar todos los puntos alrededor de la línea media (Y=0) 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 indent="-457200" algn="ctr">
              <a:lnSpc>
                <a:spcPct val="107000"/>
              </a:lnSpc>
              <a:spcAft>
                <a:spcPts val="800"/>
              </a:spcAft>
              <a:buFont typeface="Arial" pitchFamily="34" charset="0"/>
              <a:buChar char="•"/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Si hay HOMOGENEIDAD de varianzas, los puntos deberían quedar homogéneamente distribuidos en las dos mitades del gráfico, y ningún punto por fuera de las líneas rojas.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6019800" y="5600700"/>
            <a:ext cx="3124200" cy="838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>
            <a:off x="6477000" y="6972300"/>
            <a:ext cx="2667000" cy="381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5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838200" y="1152524"/>
            <a:ext cx="10058400" cy="19335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3200" dirty="0"/>
              <a:t>AHORA comencemos a ANALIZAR los ESTADISTICOS:</a:t>
            </a:r>
            <a:endParaRPr lang="es-AR" sz="3200" dirty="0"/>
          </a:p>
          <a:p>
            <a:pPr lvl="0"/>
            <a:r>
              <a:rPr lang="es-MX" sz="3200" dirty="0" smtClean="0"/>
              <a:t>a) Probemos </a:t>
            </a:r>
            <a:r>
              <a:rPr lang="es-MX" sz="3200" dirty="0"/>
              <a:t>si la PENDIENTE es SIGNIFICATIVA:</a:t>
            </a:r>
            <a:endParaRPr lang="es-AR" sz="32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5940" t="15395" r="55024" b="26042"/>
          <a:stretch/>
        </p:blipFill>
        <p:spPr bwMode="auto">
          <a:xfrm>
            <a:off x="572696" y="3848100"/>
            <a:ext cx="6209104" cy="5486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7 Rectángulo redondeado"/>
          <p:cNvSpPr/>
          <p:nvPr/>
        </p:nvSpPr>
        <p:spPr>
          <a:xfrm>
            <a:off x="7291387" y="4471987"/>
            <a:ext cx="8939213" cy="3033713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Symbol"/>
              <a:buChar char=""/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Intervalo de Confianza (95%): entre 0,35 y 2,65 – No incluye al 0.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 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Symbol"/>
              <a:buChar char=""/>
            </a:pP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Prueba de Hipótesis:  t= </a:t>
            </a:r>
            <a:r>
              <a:rPr lang="es-MX" sz="3200" dirty="0" smtClean="0">
                <a:solidFill>
                  <a:schemeClr val="tx1"/>
                </a:solidFill>
                <a:effectLst/>
                <a:ea typeface="Calibri"/>
                <a:cs typeface="Times New Roman"/>
              </a:rPr>
              <a:t>3; </a:t>
            </a:r>
            <a:r>
              <a:rPr lang="es-MX" sz="3200" dirty="0">
                <a:solidFill>
                  <a:schemeClr val="tx1"/>
                </a:solidFill>
                <a:effectLst/>
                <a:ea typeface="Calibri"/>
                <a:cs typeface="Times New Roman"/>
              </a:rPr>
              <a:t>VP = 0,0171 – La pendiente es significativa  </a:t>
            </a:r>
            <a:endParaRPr lang="es-AR" sz="3200" dirty="0">
              <a:solidFill>
                <a:schemeClr val="tx1"/>
              </a:solidFill>
              <a:effectLst/>
              <a:ea typeface="Calibri"/>
              <a:cs typeface="Times New Roman"/>
            </a:endParaRPr>
          </a:p>
        </p:txBody>
      </p:sp>
      <p:cxnSp>
        <p:nvCxnSpPr>
          <p:cNvPr id="9" name="8 Conector recto de flecha"/>
          <p:cNvCxnSpPr/>
          <p:nvPr/>
        </p:nvCxnSpPr>
        <p:spPr>
          <a:xfrm flipH="1">
            <a:off x="3200400" y="5219700"/>
            <a:ext cx="4953000" cy="12192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H="1">
            <a:off x="5105400" y="6743700"/>
            <a:ext cx="3276600" cy="3048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3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1 Rectángulo redondeado"/>
          <p:cNvSpPr/>
          <p:nvPr/>
        </p:nvSpPr>
        <p:spPr>
          <a:xfrm>
            <a:off x="1219200" y="1409700"/>
            <a:ext cx="112776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3200" dirty="0" smtClean="0"/>
              <a:t>b)  Cálculo </a:t>
            </a:r>
            <a:r>
              <a:rPr lang="es-MX" sz="3200" dirty="0"/>
              <a:t>del COEFICIENTE DE DETERMINACIÓN (a partir de la tabla de ANAVA):</a:t>
            </a:r>
            <a:endParaRPr lang="es-AR" sz="3200" dirty="0"/>
          </a:p>
        </p:txBody>
      </p:sp>
      <p:pic>
        <p:nvPicPr>
          <p:cNvPr id="7" name="6 Imagen"/>
          <p:cNvPicPr/>
          <p:nvPr/>
        </p:nvPicPr>
        <p:blipFill rotWithShape="1">
          <a:blip r:embed="rId2"/>
          <a:srcRect l="5432" t="51620" r="63849" b="28759"/>
          <a:stretch/>
        </p:blipFill>
        <p:spPr bwMode="auto">
          <a:xfrm>
            <a:off x="566834" y="3467100"/>
            <a:ext cx="7662765" cy="4876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Rectángulo redondeado"/>
              <p:cNvSpPr/>
              <p:nvPr/>
            </p:nvSpPr>
            <p:spPr>
              <a:xfrm>
                <a:off x="9677400" y="4076700"/>
                <a:ext cx="7467600" cy="3657600"/>
              </a:xfrm>
              <a:prstGeom prst="round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3200" dirty="0" smtClean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R</a:t>
                </a:r>
                <a:r>
                  <a:rPr lang="es-MX" sz="3200" dirty="0">
                    <a:solidFill>
                      <a:schemeClr val="tx1"/>
                    </a:solidFill>
                    <a:effectLst/>
                    <a:ea typeface="Calibri"/>
                    <a:cs typeface="Calibri"/>
                  </a:rPr>
                  <a:t>²</a:t>
                </a:r>
                <a:r>
                  <a:rPr lang="es-MX" sz="32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s-MX" sz="32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160</m:t>
                        </m:r>
                      </m:num>
                      <m:den>
                        <m:r>
                          <a:rPr lang="es-MX" sz="32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340</m:t>
                        </m:r>
                      </m:den>
                    </m:f>
                  </m:oMath>
                </a14:m>
                <a:endParaRPr lang="es-AR" sz="32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3200" dirty="0">
                    <a:solidFill>
                      <a:schemeClr val="tx1"/>
                    </a:solidFill>
                    <a:effectLst/>
                    <a:ea typeface="Times New Roman"/>
                    <a:cs typeface="Times New Roman"/>
                  </a:rPr>
                  <a:t>= </a:t>
                </a:r>
                <a:r>
                  <a:rPr lang="es-MX" sz="32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 0,53</a:t>
                </a:r>
                <a:endParaRPr lang="es-AR" sz="32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3200" dirty="0">
                    <a:solidFill>
                      <a:schemeClr val="tx1"/>
                    </a:solidFill>
                    <a:effectLst/>
                    <a:ea typeface="Calibri"/>
                    <a:cs typeface="Times New Roman"/>
                  </a:rPr>
                  <a:t>El 53% de la variabilidad del espesor se puede explicar por el tiempo de pintura</a:t>
                </a:r>
                <a:endParaRPr lang="es-AR" sz="3200" dirty="0">
                  <a:solidFill>
                    <a:schemeClr val="tx1"/>
                  </a:solidFill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7 Rectángulo redondead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00" y="4076700"/>
                <a:ext cx="7467600" cy="3657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43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10664825" cy="1741805"/>
            <a:chOff x="0" y="0"/>
            <a:chExt cx="10664825" cy="1741805"/>
          </a:xfrm>
        </p:grpSpPr>
        <p:sp>
          <p:nvSpPr>
            <p:cNvPr id="5" name="object 5"/>
            <p:cNvSpPr/>
            <p:nvPr/>
          </p:nvSpPr>
          <p:spPr>
            <a:xfrm>
              <a:off x="0" y="11"/>
              <a:ext cx="1075055" cy="1741805"/>
            </a:xfrm>
            <a:custGeom>
              <a:avLst/>
              <a:gdLst/>
              <a:ahLst/>
              <a:cxnLst/>
              <a:rect l="l" t="t" r="r" b="b"/>
              <a:pathLst>
                <a:path w="1075055" h="1741805">
                  <a:moveTo>
                    <a:pt x="1074496" y="1152525"/>
                  </a:moveTo>
                  <a:lnTo>
                    <a:pt x="0" y="1152525"/>
                  </a:lnTo>
                  <a:lnTo>
                    <a:pt x="0" y="1741246"/>
                  </a:lnTo>
                  <a:lnTo>
                    <a:pt x="1074496" y="1741246"/>
                  </a:lnTo>
                  <a:lnTo>
                    <a:pt x="1074496" y="1152525"/>
                  </a:lnTo>
                  <a:close/>
                </a:path>
                <a:path w="1075055" h="1741805">
                  <a:moveTo>
                    <a:pt x="1074496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1074496" y="1028700"/>
                  </a:lnTo>
                  <a:lnTo>
                    <a:pt x="10744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028699"/>
              <a:ext cx="10664825" cy="123825"/>
            </a:xfrm>
            <a:custGeom>
              <a:avLst/>
              <a:gdLst/>
              <a:ahLst/>
              <a:cxnLst/>
              <a:rect l="l" t="t" r="r" b="b"/>
              <a:pathLst>
                <a:path w="10664825" h="123825">
                  <a:moveTo>
                    <a:pt x="0" y="0"/>
                  </a:moveTo>
                  <a:lnTo>
                    <a:pt x="10664787" y="0"/>
                  </a:lnTo>
                  <a:lnTo>
                    <a:pt x="10664787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6 Imagen"/>
          <p:cNvPicPr/>
          <p:nvPr/>
        </p:nvPicPr>
        <p:blipFill rotWithShape="1">
          <a:blip r:embed="rId2"/>
          <a:srcRect l="66732" t="23809" r="13977" b="54133"/>
          <a:stretch/>
        </p:blipFill>
        <p:spPr bwMode="auto">
          <a:xfrm>
            <a:off x="3124200" y="2324100"/>
            <a:ext cx="10439400" cy="655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600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3736</TotalTime>
  <Words>891</Words>
  <Application>Microsoft Office PowerPoint</Application>
  <PresentationFormat>Personalizado</PresentationFormat>
  <Paragraphs>193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Lucida Sans Unicode</vt:lpstr>
      <vt:lpstr>Symbol</vt:lpstr>
      <vt:lpstr>Times New Roman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Math</dc:title>
  <dc:creator>soii_beluu09</dc:creator>
  <cp:keywords>DAD2v8bqHK4,BAB8aMiA8GE</cp:keywords>
  <cp:lastModifiedBy>BANGHO</cp:lastModifiedBy>
  <cp:revision>138</cp:revision>
  <dcterms:created xsi:type="dcterms:W3CDTF">2020-03-17T02:37:39Z</dcterms:created>
  <dcterms:modified xsi:type="dcterms:W3CDTF">2022-05-21T16:16:06Z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2020-03-17T00:00:00Z</vt:filetime>
  </property>
  <property fmtid="{D5CDD505-2E9C-101B-9397-08002B2CF9AE}" pid="3" name="Creator">
    <vt:lpwstr>Canva</vt:lpwstr>
  </property>
  <property fmtid="{D5CDD505-2E9C-101B-9397-08002B2CF9AE}" pid="4" name="LastSaved">
    <vt:filetime>2020-03-17T00:00:00Z</vt:filetime>
  </property>
</Properties>
</file>